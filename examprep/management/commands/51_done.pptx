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84" r:id="rId3"/>
    <p:sldId id="280" r:id="rId4"/>
    <p:sldId id="264" r:id="rId5"/>
    <p:sldId id="269" r:id="rId6"/>
    <p:sldId id="259" r:id="rId7"/>
    <p:sldId id="273" r:id="rId8"/>
    <p:sldId id="260" r:id="rId9"/>
    <p:sldId id="281" r:id="rId10"/>
    <p:sldId id="285" r:id="rId11"/>
    <p:sldId id="283" r:id="rId12"/>
    <p:sldId id="302" r:id="rId13"/>
    <p:sldId id="258" r:id="rId14"/>
    <p:sldId id="266" r:id="rId15"/>
    <p:sldId id="267" r:id="rId16"/>
    <p:sldId id="270" r:id="rId17"/>
    <p:sldId id="279" r:id="rId18"/>
    <p:sldId id="268" r:id="rId19"/>
    <p:sldId id="287" r:id="rId20"/>
    <p:sldId id="272" r:id="rId21"/>
    <p:sldId id="261" r:id="rId22"/>
    <p:sldId id="262" r:id="rId23"/>
    <p:sldId id="263" r:id="rId24"/>
    <p:sldId id="286" r:id="rId25"/>
    <p:sldId id="265" r:id="rId26"/>
    <p:sldId id="277" r:id="rId27"/>
    <p:sldId id="288" r:id="rId28"/>
    <p:sldId id="289" r:id="rId29"/>
    <p:sldId id="290" r:id="rId30"/>
    <p:sldId id="291" r:id="rId31"/>
    <p:sldId id="292" r:id="rId32"/>
    <p:sldId id="293" r:id="rId33"/>
    <p:sldId id="282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66" r:id="rId43"/>
    <p:sldId id="484" r:id="rId44"/>
    <p:sldId id="477" r:id="rId45"/>
    <p:sldId id="478" r:id="rId46"/>
    <p:sldId id="488" r:id="rId47"/>
    <p:sldId id="501" r:id="rId48"/>
    <p:sldId id="503" r:id="rId49"/>
    <p:sldId id="507" r:id="rId50"/>
    <p:sldId id="508" r:id="rId51"/>
    <p:sldId id="509" r:id="rId52"/>
    <p:sldId id="432" r:id="rId53"/>
    <p:sldId id="436" r:id="rId54"/>
    <p:sldId id="431" r:id="rId55"/>
    <p:sldId id="427" r:id="rId56"/>
    <p:sldId id="428" r:id="rId57"/>
    <p:sldId id="429" r:id="rId58"/>
    <p:sldId id="510" r:id="rId59"/>
    <p:sldId id="467" r:id="rId60"/>
    <p:sldId id="468" r:id="rId61"/>
    <p:sldId id="469" r:id="rId62"/>
    <p:sldId id="470" r:id="rId63"/>
    <p:sldId id="435" r:id="rId64"/>
    <p:sldId id="511" r:id="rId65"/>
    <p:sldId id="506" r:id="rId66"/>
  </p:sldIdLst>
  <p:sldSz cx="3600450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5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28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4" y="942577"/>
            <a:ext cx="3060383" cy="2005142"/>
          </a:xfrm>
        </p:spPr>
        <p:txBody>
          <a:bodyPr anchor="b"/>
          <a:lstStyle>
            <a:lvl1pPr algn="ctr">
              <a:defRPr sz="23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3025045"/>
            <a:ext cx="2700338" cy="1390533"/>
          </a:xfrm>
        </p:spPr>
        <p:txBody>
          <a:bodyPr/>
          <a:lstStyle>
            <a:lvl1pPr marL="0" indent="0" algn="ctr">
              <a:buNone/>
              <a:defRPr sz="945"/>
            </a:lvl1pPr>
            <a:lvl2pPr marL="180045" indent="0" algn="ctr">
              <a:buNone/>
              <a:defRPr sz="788"/>
            </a:lvl2pPr>
            <a:lvl3pPr marL="360091" indent="0" algn="ctr">
              <a:buNone/>
              <a:defRPr sz="709"/>
            </a:lvl3pPr>
            <a:lvl4pPr marL="540136" indent="0" algn="ctr">
              <a:buNone/>
              <a:defRPr sz="630"/>
            </a:lvl4pPr>
            <a:lvl5pPr marL="720181" indent="0" algn="ctr">
              <a:buNone/>
              <a:defRPr sz="630"/>
            </a:lvl5pPr>
            <a:lvl6pPr marL="900227" indent="0" algn="ctr">
              <a:buNone/>
              <a:defRPr sz="630"/>
            </a:lvl6pPr>
            <a:lvl7pPr marL="1080272" indent="0" algn="ctr">
              <a:buNone/>
              <a:defRPr sz="630"/>
            </a:lvl7pPr>
            <a:lvl8pPr marL="1260318" indent="0" algn="ctr">
              <a:buNone/>
              <a:defRPr sz="630"/>
            </a:lvl8pPr>
            <a:lvl9pPr marL="1440363" indent="0" algn="ctr">
              <a:buNone/>
              <a:defRPr sz="63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6BE48-8E77-4295-935B-A4AAB95391B3}" type="datetimeFigureOut">
              <a:rPr lang="ko-KR" altLang="en-US" smtClean="0"/>
              <a:t>2023. 3. 13.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21967-E760-4AF6-A9BB-DB836057E9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882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6BE48-8E77-4295-935B-A4AAB95391B3}" type="datetimeFigureOut">
              <a:rPr lang="ko-KR" altLang="en-US" smtClean="0"/>
              <a:t>2023. 3. 13.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21967-E760-4AF6-A9BB-DB836057E9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6254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1435864"/>
            <a:ext cx="3105388" cy="2395771"/>
          </a:xfrm>
        </p:spPr>
        <p:txBody>
          <a:bodyPr anchor="b"/>
          <a:lstStyle>
            <a:lvl1pPr>
              <a:defRPr sz="23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3854300"/>
            <a:ext cx="3105388" cy="1259879"/>
          </a:xfrm>
        </p:spPr>
        <p:txBody>
          <a:bodyPr/>
          <a:lstStyle>
            <a:lvl1pPr marL="0" indent="0">
              <a:buNone/>
              <a:defRPr sz="945">
                <a:solidFill>
                  <a:schemeClr val="tx1"/>
                </a:solidFill>
              </a:defRPr>
            </a:lvl1pPr>
            <a:lvl2pPr marL="18004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2pPr>
            <a:lvl3pPr marL="360091" indent="0">
              <a:buNone/>
              <a:defRPr sz="709">
                <a:solidFill>
                  <a:schemeClr val="tx1">
                    <a:tint val="75000"/>
                  </a:schemeClr>
                </a:solidFill>
              </a:defRPr>
            </a:lvl3pPr>
            <a:lvl4pPr marL="540136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4pPr>
            <a:lvl5pPr marL="720181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5pPr>
            <a:lvl6pPr marL="900227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6pPr>
            <a:lvl7pPr marL="1080272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7pPr>
            <a:lvl8pPr marL="1260318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8pPr>
            <a:lvl9pPr marL="1440363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6BE48-8E77-4295-935B-A4AAB95391B3}" type="datetimeFigureOut">
              <a:rPr lang="ko-KR" altLang="en-US" smtClean="0"/>
              <a:t>2023. 3. 13.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21967-E760-4AF6-A9BB-DB836057E9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4429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1533187"/>
            <a:ext cx="1530191" cy="3654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1533187"/>
            <a:ext cx="1530191" cy="3654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6BE48-8E77-4295-935B-A4AAB95391B3}" type="datetimeFigureOut">
              <a:rPr lang="ko-KR" altLang="en-US" smtClean="0"/>
              <a:t>2023. 3. 13.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21967-E760-4AF6-A9BB-DB836057E9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1439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306639"/>
            <a:ext cx="3105388" cy="111322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1411865"/>
            <a:ext cx="1523159" cy="69193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2103799"/>
            <a:ext cx="1523159" cy="309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1411865"/>
            <a:ext cx="1530660" cy="69193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2103799"/>
            <a:ext cx="1530660" cy="309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6BE48-8E77-4295-935B-A4AAB95391B3}" type="datetimeFigureOut">
              <a:rPr lang="ko-KR" altLang="en-US" smtClean="0"/>
              <a:t>2023. 3. 13.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21967-E760-4AF6-A9BB-DB836057E9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284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6BE48-8E77-4295-935B-A4AAB95391B3}" type="datetimeFigureOut">
              <a:rPr lang="ko-KR" altLang="en-US" smtClean="0"/>
              <a:t>2023. 3. 13.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21967-E760-4AF6-A9BB-DB836057E9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6264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6BE48-8E77-4295-935B-A4AAB95391B3}" type="datetimeFigureOut">
              <a:rPr lang="ko-KR" altLang="en-US" smtClean="0"/>
              <a:t>2023. 3. 13.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21967-E760-4AF6-A9BB-DB836057E9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16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383963"/>
            <a:ext cx="1161239" cy="1343872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829256"/>
            <a:ext cx="1822728" cy="4092942"/>
          </a:xfrm>
        </p:spPr>
        <p:txBody>
          <a:bodyPr/>
          <a:lstStyle>
            <a:lvl1pPr>
              <a:defRPr sz="1260"/>
            </a:lvl1pPr>
            <a:lvl2pPr>
              <a:defRPr sz="1103"/>
            </a:lvl2pPr>
            <a:lvl3pPr>
              <a:defRPr sz="945"/>
            </a:lvl3pPr>
            <a:lvl4pPr>
              <a:defRPr sz="788"/>
            </a:lvl4pPr>
            <a:lvl5pPr>
              <a:defRPr sz="788"/>
            </a:lvl5pPr>
            <a:lvl6pPr>
              <a:defRPr sz="788"/>
            </a:lvl6pPr>
            <a:lvl7pPr>
              <a:defRPr sz="788"/>
            </a:lvl7pPr>
            <a:lvl8pPr>
              <a:defRPr sz="788"/>
            </a:lvl8pPr>
            <a:lvl9pPr>
              <a:defRPr sz="7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727835"/>
            <a:ext cx="1161239" cy="3201028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6BE48-8E77-4295-935B-A4AAB95391B3}" type="datetimeFigureOut">
              <a:rPr lang="ko-KR" altLang="en-US" smtClean="0"/>
              <a:t>2023. 3. 13.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21967-E760-4AF6-A9BB-DB836057E9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1839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383963"/>
            <a:ext cx="1161239" cy="1343872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829256"/>
            <a:ext cx="1822728" cy="4092942"/>
          </a:xfrm>
        </p:spPr>
        <p:txBody>
          <a:bodyPr anchor="t"/>
          <a:lstStyle>
            <a:lvl1pPr marL="0" indent="0">
              <a:buNone/>
              <a:defRPr sz="1260"/>
            </a:lvl1pPr>
            <a:lvl2pPr marL="180045" indent="0">
              <a:buNone/>
              <a:defRPr sz="1103"/>
            </a:lvl2pPr>
            <a:lvl3pPr marL="360091" indent="0">
              <a:buNone/>
              <a:defRPr sz="945"/>
            </a:lvl3pPr>
            <a:lvl4pPr marL="540136" indent="0">
              <a:buNone/>
              <a:defRPr sz="788"/>
            </a:lvl4pPr>
            <a:lvl5pPr marL="720181" indent="0">
              <a:buNone/>
              <a:defRPr sz="788"/>
            </a:lvl5pPr>
            <a:lvl6pPr marL="900227" indent="0">
              <a:buNone/>
              <a:defRPr sz="788"/>
            </a:lvl6pPr>
            <a:lvl7pPr marL="1080272" indent="0">
              <a:buNone/>
              <a:defRPr sz="788"/>
            </a:lvl7pPr>
            <a:lvl8pPr marL="1260318" indent="0">
              <a:buNone/>
              <a:defRPr sz="788"/>
            </a:lvl8pPr>
            <a:lvl9pPr marL="1440363" indent="0">
              <a:buNone/>
              <a:defRPr sz="78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727835"/>
            <a:ext cx="1161239" cy="3201028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6BE48-8E77-4295-935B-A4AAB95391B3}" type="datetimeFigureOut">
              <a:rPr lang="ko-KR" altLang="en-US" smtClean="0"/>
              <a:t>2023. 3. 13.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21967-E760-4AF6-A9BB-DB836057E9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3548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6BE48-8E77-4295-935B-A4AAB95391B3}" type="datetimeFigureOut">
              <a:rPr lang="ko-KR" altLang="en-US" smtClean="0"/>
              <a:t>2023. 3. 13.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21967-E760-4AF6-A9BB-DB836057E9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403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306637"/>
            <a:ext cx="776347" cy="488086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306637"/>
            <a:ext cx="2284035" cy="488086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6BE48-8E77-4295-935B-A4AAB95391B3}" type="datetimeFigureOut">
              <a:rPr lang="ko-KR" altLang="en-US" smtClean="0"/>
              <a:t>2023. 3. 13.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21967-E760-4AF6-A9BB-DB836057E9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321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306639"/>
            <a:ext cx="3105388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1533187"/>
            <a:ext cx="3105388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5338158"/>
            <a:ext cx="810101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6BE48-8E77-4295-935B-A4AAB95391B3}" type="datetimeFigureOut">
              <a:rPr lang="ko-KR" altLang="en-US" smtClean="0"/>
              <a:t>2023. 3. 13.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5338158"/>
            <a:ext cx="1215152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5338158"/>
            <a:ext cx="810101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421967-E760-4AF6-A9BB-DB836057E9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777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60091" rtl="0" eaLnBrk="1" latinLnBrk="0" hangingPunct="1">
        <a:lnSpc>
          <a:spcPct val="90000"/>
        </a:lnSpc>
        <a:spcBef>
          <a:spcPct val="0"/>
        </a:spcBef>
        <a:buNone/>
        <a:defRPr sz="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23" indent="-90023" algn="l" defTabSz="360091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1pPr>
      <a:lvl2pPr marL="270068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50113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63015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810204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9024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170295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350340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530386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1pPr>
      <a:lvl2pPr marL="180045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6009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40136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72018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00227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080272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260318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440363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69056"/>
            <a:ext cx="8022814" cy="65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251"/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111362" y="91440"/>
            <a:ext cx="3361272" cy="3473985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algn="just" defTabSz="27004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과장님께</a:t>
            </a:r>
            <a:r>
              <a:rPr lang="en-US" altLang="ko-KR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,</a:t>
            </a:r>
          </a:p>
          <a:p>
            <a:pPr algn="just" defTabSz="27004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안녕하세요</a:t>
            </a:r>
            <a:r>
              <a:rPr lang="en-US" altLang="ko-KR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? </a:t>
            </a:r>
            <a:r>
              <a:rPr lang="ko-KR" altLang="en-US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지영입니다</a:t>
            </a:r>
            <a:r>
              <a:rPr lang="en-US" altLang="ko-KR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</a:p>
          <a:p>
            <a:pPr algn="just" defTabSz="27004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200" b="1" u="sng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지난주에</a:t>
            </a:r>
            <a:r>
              <a:rPr lang="ko-KR" altLang="en-US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집들이에 초대해 주셔서 감사합니다</a:t>
            </a:r>
            <a:r>
              <a:rPr lang="en-US" altLang="ko-KR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</a:p>
          <a:p>
            <a:pPr algn="just" defTabSz="27004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과장님 덕분에 재미있는 시간을 보냈습니다</a:t>
            </a:r>
            <a:r>
              <a:rPr lang="en-US" altLang="ko-KR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</a:p>
          <a:p>
            <a:pPr algn="just" defTabSz="27004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200" b="1" u="sng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이번에는</a:t>
            </a:r>
            <a:r>
              <a:rPr lang="ko-KR" altLang="en-US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(               </a:t>
            </a:r>
            <a:r>
              <a:rPr lang="ko-KR" altLang="en-US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㉠              </a:t>
            </a:r>
            <a:r>
              <a:rPr lang="en-US" altLang="ko-KR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).</a:t>
            </a:r>
          </a:p>
          <a:p>
            <a:pPr algn="just" defTabSz="27004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다음 주 토요일과 일요일 </a:t>
            </a:r>
            <a:r>
              <a:rPr lang="ko-KR" altLang="en-US" sz="1200" b="1" u="sng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중에</a:t>
            </a:r>
            <a:r>
              <a:rPr lang="ko-KR" altLang="en-US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(</a:t>
            </a:r>
            <a:r>
              <a:rPr lang="ko-KR" altLang="en-US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㉡</a:t>
            </a:r>
            <a:r>
              <a:rPr lang="en-US" altLang="ko-KR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)?</a:t>
            </a:r>
          </a:p>
          <a:p>
            <a:pPr algn="just" defTabSz="27004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저는 주말에는 언제든지 괜찮습니다</a:t>
            </a:r>
            <a:r>
              <a:rPr lang="en-US" altLang="ko-KR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</a:p>
          <a:p>
            <a:pPr algn="just" defTabSz="27004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편하신 요일을 이야기해 주시면 감사하겠습니다</a:t>
            </a:r>
            <a:r>
              <a:rPr lang="en-US" altLang="ko-KR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en-US" altLang="ko-KR" sz="1200" dirty="0">
              <a:latin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362" y="3982856"/>
            <a:ext cx="3361272" cy="46166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㉠ 제가 과장님을 초대하고 싶습니다</a:t>
            </a:r>
            <a:r>
              <a:rPr lang="en-US" altLang="ko-KR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./ </a:t>
            </a:r>
            <a:r>
              <a:rPr lang="ko-KR" altLang="en-US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저희 집에 초대하고 싶습니다</a:t>
            </a:r>
            <a:r>
              <a:rPr lang="en-US" altLang="ko-KR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111362" y="4642533"/>
            <a:ext cx="3361272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㉡ 언제 시간이 되십니까</a:t>
            </a:r>
            <a:r>
              <a:rPr lang="en-US" altLang="ko-KR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</a:t>
            </a:r>
            <a:r>
              <a:rPr lang="ko-KR" altLang="en-US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언제 괜찮으십니까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888780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96FEA4C-8947-4B86-B2D4-1E8C3E3E7BA3}"/>
              </a:ext>
            </a:extLst>
          </p:cNvPr>
          <p:cNvSpPr/>
          <p:nvPr/>
        </p:nvSpPr>
        <p:spPr>
          <a:xfrm>
            <a:off x="1351060" y="94691"/>
            <a:ext cx="860125" cy="2378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70041">
              <a:defRPr/>
            </a:pPr>
            <a:r>
              <a:rPr lang="ko-KR" altLang="en-US" sz="140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계획</a:t>
            </a:r>
            <a:endParaRPr lang="ko-KR" altLang="en-US" sz="14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E25DDDA-C48F-4C01-AA0F-6B9FAD863978}"/>
              </a:ext>
            </a:extLst>
          </p:cNvPr>
          <p:cNvSpPr/>
          <p:nvPr/>
        </p:nvSpPr>
        <p:spPr>
          <a:xfrm>
            <a:off x="138767" y="572131"/>
            <a:ext cx="3322915" cy="93839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V-(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으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)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ㄹ 거예요  → 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V-(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으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)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ㄹ까 합니다 </a:t>
            </a:r>
            <a:endParaRPr lang="en-US" altLang="ko-KR" sz="1200" kern="0" dirty="0">
              <a:solidFill>
                <a:srgbClr val="000000"/>
              </a:solidFill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  <a:p>
            <a:pPr algn="just" defTabSz="270041" fontAlgn="base">
              <a:lnSpc>
                <a:spcPct val="160000"/>
              </a:lnSpc>
              <a:defRPr/>
            </a:pP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                               V-(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으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)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ㄹ 생각입니다</a:t>
            </a:r>
            <a:endParaRPr lang="en-US" altLang="ko-KR" sz="1200" kern="0" dirty="0">
              <a:solidFill>
                <a:srgbClr val="000000"/>
              </a:solidFill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  <a:p>
            <a:pPr algn="just" defTabSz="270041" fontAlgn="base">
              <a:lnSpc>
                <a:spcPct val="160000"/>
              </a:lnSpc>
              <a:defRPr/>
            </a:pP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                              V-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고 싶습니다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A05D644-CDC8-4FBF-96D6-E693408657E7}"/>
              </a:ext>
            </a:extLst>
          </p:cNvPr>
          <p:cNvSpPr/>
          <p:nvPr/>
        </p:nvSpPr>
        <p:spPr>
          <a:xfrm>
            <a:off x="0" y="1750152"/>
            <a:ext cx="3322915" cy="1233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 이번 주말에 집들이를 할까 합니다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</a:p>
          <a:p>
            <a:pPr algn="just" defTabSz="270041" fontAlgn="base">
              <a:lnSpc>
                <a:spcPct val="160000"/>
              </a:lnSpc>
              <a:defRPr/>
            </a:pP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다음 방학에 여행을 할 생각입니다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</a:p>
          <a:p>
            <a:pPr algn="just" defTabSz="270041" fontAlgn="base">
              <a:lnSpc>
                <a:spcPct val="160000"/>
              </a:lnSpc>
              <a:defRPr/>
            </a:pP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함께 생일 파티를 하고 싶습니다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</a:p>
          <a:p>
            <a:pPr algn="just" defTabSz="270041" fontAlgn="base">
              <a:lnSpc>
                <a:spcPct val="160000"/>
              </a:lnSpc>
              <a:defRPr/>
            </a:pP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선생님을 저희 집으로 초대하고 싶습니다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13691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96FEA4C-8947-4B86-B2D4-1E8C3E3E7BA3}"/>
              </a:ext>
            </a:extLst>
          </p:cNvPr>
          <p:cNvSpPr/>
          <p:nvPr/>
        </p:nvSpPr>
        <p:spPr>
          <a:xfrm>
            <a:off x="976861" y="142232"/>
            <a:ext cx="1483706" cy="82802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의향 </a:t>
            </a:r>
            <a:r>
              <a:rPr lang="ko-KR" altLang="en-US" sz="1200" dirty="0" err="1"/>
              <a:t>물어보기</a:t>
            </a:r>
            <a:endParaRPr lang="ko-KR" altLang="en-US" sz="12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E25DDDA-C48F-4C01-AA0F-6B9FAD863978}"/>
              </a:ext>
            </a:extLst>
          </p:cNvPr>
          <p:cNvSpPr/>
          <p:nvPr/>
        </p:nvSpPr>
        <p:spPr>
          <a:xfrm>
            <a:off x="408207" y="1141044"/>
            <a:ext cx="2784036" cy="93839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N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이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가 괜찮으십니까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? /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괜찮으신지요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?/ 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괜찮으신가요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?</a:t>
            </a:r>
          </a:p>
          <a:p>
            <a:pPr algn="just" fontAlgn="base">
              <a:lnSpc>
                <a:spcPct val="160000"/>
              </a:lnSpc>
            </a:pP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N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가 되십니까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?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A05D644-CDC8-4FBF-96D6-E693408657E7}"/>
              </a:ext>
            </a:extLst>
          </p:cNvPr>
          <p:cNvSpPr/>
          <p:nvPr/>
        </p:nvSpPr>
        <p:spPr>
          <a:xfrm>
            <a:off x="138767" y="2664243"/>
            <a:ext cx="3322915" cy="938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 언제 시간이 되십니까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?</a:t>
            </a:r>
          </a:p>
          <a:p>
            <a:pPr algn="just" fontAlgn="base">
              <a:lnSpc>
                <a:spcPct val="160000"/>
              </a:lnSpc>
            </a:pP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무슨 요일이 괜찮으십니까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?</a:t>
            </a:r>
          </a:p>
          <a:p>
            <a:pPr algn="just" fontAlgn="base">
              <a:lnSpc>
                <a:spcPct val="160000"/>
              </a:lnSpc>
            </a:pP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몇 시가 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괜찮으신가요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29707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</a:endParaRPr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61208" y="399021"/>
            <a:ext cx="3478034" cy="2817205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fontAlgn="base">
              <a:lnSpc>
                <a:spcPct val="150000"/>
              </a:lnSpc>
            </a:pP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마이클 씨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</a:t>
            </a:r>
            <a:endParaRPr lang="ko-KR" altLang="en-US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fontAlgn="base">
              <a:lnSpc>
                <a:spcPct val="150000"/>
              </a:lnSpc>
            </a:pP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안녕하셨어요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? 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새해 복 많이 받으세요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  <a:endParaRPr lang="ko-KR" altLang="en-US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fontAlgn="base">
              <a:lnSpc>
                <a:spcPct val="150000"/>
              </a:lnSpc>
            </a:pP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다름이 아니라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이번 모임에 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                   (</a:t>
            </a:r>
            <a:r>
              <a:rPr lang="ko-KR" altLang="en-US" sz="1200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ㄱ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                ).</a:t>
            </a:r>
            <a:endParaRPr lang="ko-KR" altLang="en-US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fontAlgn="base">
              <a:lnSpc>
                <a:spcPct val="150000"/>
              </a:lnSpc>
            </a:pP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음식은 제가 준비할 테니까 마이클 씨는 그냥 오시면 됩니다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  <a:endParaRPr lang="ko-KR" altLang="en-US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fontAlgn="base">
              <a:lnSpc>
                <a:spcPct val="150000"/>
              </a:lnSpc>
            </a:pP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이번 주 화요일 저녁에 모임을 하려고 하는데 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             (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ㄴ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            )?</a:t>
            </a:r>
            <a:endParaRPr lang="ko-KR" altLang="en-US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fontAlgn="base">
              <a:lnSpc>
                <a:spcPct val="150000"/>
              </a:lnSpc>
            </a:pP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별일 없으시면 꼭 와 주세요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  <a:endParaRPr lang="ko-KR" altLang="en-US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fontAlgn="base">
              <a:lnSpc>
                <a:spcPct val="150000"/>
              </a:lnSpc>
            </a:pP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투이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7565" y="3773880"/>
            <a:ext cx="3229341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㉠ 초대하고 싶습니다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7565" y="4289970"/>
            <a:ext cx="3229341" cy="46166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㉡ 시간 있으세요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시간이 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괜찮으세요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올 수 있으세요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2392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</a:endParaRPr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73360" y="415636"/>
            <a:ext cx="3453731" cy="3383177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언니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잘 지내지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?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이번에 언니가 있는 서울에 출장을 가게 됐어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 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다음 달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8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일부터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3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일 동안 서울에 있을 거야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 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이번에 가면 언니를 꼭 만나고 싶은데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(              (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ㄱ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)            )?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난 저녁 시간에는 다 괜찮아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 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(               (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ㄴ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)             )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시간으로 식당을 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예약할게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같이 저녁 먹으면 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좋겠어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빨리 만나고 싶어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연락 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기다릴게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언니 동생 미란이가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363" y="4319349"/>
            <a:ext cx="3415728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㉠ 만날 수 있어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시간이 돼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언제 시간이 있어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363" y="5007926"/>
            <a:ext cx="3415728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㉡ 언니가 되는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언니가 괜찮은  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2711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</a:endParaRPr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55681" y="249382"/>
            <a:ext cx="3489088" cy="2967643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받는 사람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정은희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박미경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김사랑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...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제목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회의 시간 조정</a:t>
            </a:r>
            <a:endParaRPr lang="en-US" altLang="ko-KR" sz="1200" kern="0" dirty="0">
              <a:solidFill>
                <a:srgbClr val="00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algn="just" fontAlgn="base"/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안녕하십니까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? 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다름이 아니라 다음 주 월요일에 하는 회의 시간 때문에 메일을 보냅니다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 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                        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㉠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                   )?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저희 팀은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3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시부터 괜찮습니다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                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㉡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              )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이메일로 알려 주시기 바랍니다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044" y="3754599"/>
            <a:ext cx="3489088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㉠ 몇 시가 괜찮습니까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/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언제 가능하십니까  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045" y="4283630"/>
            <a:ext cx="3489088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㉡ 가능한 시간을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몇 시가 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괜찮은지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5777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8189" y="432262"/>
            <a:ext cx="3483033" cy="49045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tx1"/>
                </a:solidFill>
              </a:rPr>
              <a:t>◈ 공손한 표현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just"/>
            <a:endParaRPr lang="en-US" altLang="ko-KR" sz="1000" dirty="0">
              <a:solidFill>
                <a:schemeClr val="tx1"/>
              </a:solidFill>
            </a:endParaRPr>
          </a:p>
          <a:p>
            <a:pPr marL="101266" indent="-101266" algn="just">
              <a:buAutoNum type="arabicPeriod"/>
            </a:pPr>
            <a:r>
              <a:rPr lang="en-US" altLang="ko-KR" sz="1000" dirty="0">
                <a:solidFill>
                  <a:schemeClr val="tx1"/>
                </a:solidFill>
              </a:rPr>
              <a:t>‘-(</a:t>
            </a:r>
            <a:r>
              <a:rPr lang="ko-KR" altLang="en-US" sz="1000" dirty="0">
                <a:solidFill>
                  <a:schemeClr val="tx1"/>
                </a:solidFill>
              </a:rPr>
              <a:t>으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r>
              <a:rPr lang="ko-KR" altLang="en-US" sz="1000" dirty="0">
                <a:solidFill>
                  <a:schemeClr val="tx1"/>
                </a:solidFill>
              </a:rPr>
              <a:t>세요</a:t>
            </a:r>
            <a:r>
              <a:rPr lang="en-US" altLang="ko-KR" sz="1000" dirty="0">
                <a:solidFill>
                  <a:schemeClr val="tx1"/>
                </a:solidFill>
              </a:rPr>
              <a:t>’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: ‘-(</a:t>
            </a:r>
            <a:r>
              <a:rPr lang="ko-KR" altLang="en-US" sz="1000" dirty="0">
                <a:solidFill>
                  <a:schemeClr val="tx1"/>
                </a:solidFill>
              </a:rPr>
              <a:t>으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r>
              <a:rPr lang="ko-KR" altLang="en-US" sz="1000" dirty="0">
                <a:solidFill>
                  <a:schemeClr val="tx1"/>
                </a:solidFill>
              </a:rPr>
              <a:t>면 좋겠습니다</a:t>
            </a:r>
            <a:r>
              <a:rPr lang="en-US" altLang="ko-KR" sz="1000" dirty="0">
                <a:solidFill>
                  <a:schemeClr val="tx1"/>
                </a:solidFill>
              </a:rPr>
              <a:t>(/</a:t>
            </a:r>
            <a:r>
              <a:rPr lang="ko-KR" altLang="en-US" sz="1000" dirty="0">
                <a:solidFill>
                  <a:schemeClr val="tx1"/>
                </a:solidFill>
              </a:rPr>
              <a:t>감사하겠습니다</a:t>
            </a:r>
            <a:r>
              <a:rPr lang="en-US" altLang="ko-KR" sz="1000" dirty="0">
                <a:solidFill>
                  <a:schemeClr val="tx1"/>
                </a:solidFill>
              </a:rPr>
              <a:t>)’, ‘-(</a:t>
            </a:r>
            <a:r>
              <a:rPr lang="ko-KR" altLang="en-US" sz="1000" dirty="0">
                <a:solidFill>
                  <a:schemeClr val="tx1"/>
                </a:solidFill>
              </a:rPr>
              <a:t>으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r>
              <a:rPr lang="ko-KR" altLang="en-US" sz="1000" dirty="0">
                <a:solidFill>
                  <a:schemeClr val="tx1"/>
                </a:solidFill>
              </a:rPr>
              <a:t>ㄹ 수 있으시겠습니까</a:t>
            </a:r>
            <a:r>
              <a:rPr lang="en-US" altLang="ko-KR" sz="1000" dirty="0">
                <a:solidFill>
                  <a:schemeClr val="tx1"/>
                </a:solidFill>
              </a:rPr>
              <a:t>?’</a:t>
            </a:r>
          </a:p>
          <a:p>
            <a:pPr algn="just">
              <a:lnSpc>
                <a:spcPct val="20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                   </a:t>
            </a:r>
            <a:r>
              <a:rPr lang="ko-KR" altLang="en-US" sz="1000" dirty="0">
                <a:solidFill>
                  <a:schemeClr val="tx1"/>
                </a:solidFill>
              </a:rPr>
              <a:t>예</a:t>
            </a:r>
            <a:r>
              <a:rPr lang="en-US" altLang="ko-KR" sz="1000" dirty="0">
                <a:solidFill>
                  <a:schemeClr val="tx1"/>
                </a:solidFill>
              </a:rPr>
              <a:t>) </a:t>
            </a:r>
            <a:r>
              <a:rPr lang="ko-KR" altLang="en-US" sz="1000" dirty="0">
                <a:solidFill>
                  <a:schemeClr val="tx1"/>
                </a:solidFill>
              </a:rPr>
              <a:t>우리 집에 오세요 → 저희 집에 오실 수 있으시겠습니까</a:t>
            </a:r>
            <a:r>
              <a:rPr lang="en-US" altLang="ko-KR" sz="1000" dirty="0">
                <a:solidFill>
                  <a:schemeClr val="tx1"/>
                </a:solidFill>
              </a:rPr>
              <a:t>?</a:t>
            </a:r>
          </a:p>
          <a:p>
            <a:pPr algn="just">
              <a:lnSpc>
                <a:spcPct val="20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                                                   </a:t>
            </a:r>
            <a:r>
              <a:rPr lang="ko-KR" altLang="en-US" sz="1000" dirty="0">
                <a:solidFill>
                  <a:schemeClr val="tx1"/>
                </a:solidFill>
              </a:rPr>
              <a:t>저희 집에 오시면 좋겠습니다</a:t>
            </a:r>
            <a:r>
              <a:rPr lang="en-US" altLang="ko-KR" sz="1000" dirty="0">
                <a:solidFill>
                  <a:schemeClr val="tx1"/>
                </a:solidFill>
              </a:rPr>
              <a:t>.</a:t>
            </a:r>
          </a:p>
          <a:p>
            <a:pPr algn="just">
              <a:lnSpc>
                <a:spcPct val="20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2. ‘-(</a:t>
            </a:r>
            <a:r>
              <a:rPr lang="ko-KR" altLang="en-US" sz="1000" dirty="0">
                <a:solidFill>
                  <a:schemeClr val="tx1"/>
                </a:solidFill>
              </a:rPr>
              <a:t>으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r>
              <a:rPr lang="ko-KR" altLang="en-US" sz="1000" dirty="0">
                <a:solidFill>
                  <a:schemeClr val="tx1"/>
                </a:solidFill>
              </a:rPr>
              <a:t>ㄹ까요</a:t>
            </a:r>
            <a:r>
              <a:rPr lang="en-US" altLang="ko-KR" sz="1000" dirty="0">
                <a:solidFill>
                  <a:schemeClr val="tx1"/>
                </a:solidFill>
              </a:rPr>
              <a:t>?’ : ‘-(</a:t>
            </a:r>
            <a:r>
              <a:rPr lang="ko-KR" altLang="en-US" sz="1000" dirty="0">
                <a:solidFill>
                  <a:schemeClr val="tx1"/>
                </a:solidFill>
              </a:rPr>
              <a:t>으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r>
              <a:rPr lang="ko-KR" altLang="en-US" sz="1000" dirty="0">
                <a:solidFill>
                  <a:schemeClr val="tx1"/>
                </a:solidFill>
              </a:rPr>
              <a:t>면 되겠습니까</a:t>
            </a:r>
            <a:r>
              <a:rPr lang="en-US" altLang="ko-KR" sz="1000" dirty="0">
                <a:solidFill>
                  <a:schemeClr val="tx1"/>
                </a:solidFill>
              </a:rPr>
              <a:t>?’, ‘-(</a:t>
            </a:r>
            <a:r>
              <a:rPr lang="ko-KR" altLang="en-US" sz="1000" dirty="0">
                <a:solidFill>
                  <a:schemeClr val="tx1"/>
                </a:solidFill>
              </a:rPr>
              <a:t>으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r>
              <a:rPr lang="ko-KR" altLang="en-US" sz="1000" dirty="0">
                <a:solidFill>
                  <a:schemeClr val="tx1"/>
                </a:solidFill>
              </a:rPr>
              <a:t>면 괜찮으시겠습니까</a:t>
            </a:r>
            <a:r>
              <a:rPr lang="en-US" altLang="ko-KR" sz="1000" dirty="0">
                <a:solidFill>
                  <a:schemeClr val="tx1"/>
                </a:solidFill>
              </a:rPr>
              <a:t>?’</a:t>
            </a:r>
          </a:p>
          <a:p>
            <a:pPr algn="just">
              <a:lnSpc>
                <a:spcPct val="20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                   </a:t>
            </a:r>
            <a:r>
              <a:rPr lang="ko-KR" altLang="en-US" sz="1000" dirty="0">
                <a:solidFill>
                  <a:schemeClr val="tx1"/>
                </a:solidFill>
              </a:rPr>
              <a:t>예</a:t>
            </a:r>
            <a:r>
              <a:rPr lang="en-US" altLang="ko-KR" sz="1000" dirty="0">
                <a:solidFill>
                  <a:schemeClr val="tx1"/>
                </a:solidFill>
              </a:rPr>
              <a:t>) </a:t>
            </a:r>
            <a:r>
              <a:rPr lang="ko-KR" altLang="en-US" sz="1000" dirty="0">
                <a:solidFill>
                  <a:schemeClr val="tx1"/>
                </a:solidFill>
              </a:rPr>
              <a:t>언제 갈까요</a:t>
            </a:r>
            <a:r>
              <a:rPr lang="en-US" altLang="ko-KR" sz="1000" dirty="0">
                <a:solidFill>
                  <a:schemeClr val="tx1"/>
                </a:solidFill>
              </a:rPr>
              <a:t>? </a:t>
            </a:r>
            <a:r>
              <a:rPr lang="ko-KR" altLang="en-US" sz="1000" dirty="0">
                <a:solidFill>
                  <a:schemeClr val="tx1"/>
                </a:solidFill>
              </a:rPr>
              <a:t>→ 언제 가면 되겠습니까</a:t>
            </a:r>
            <a:r>
              <a:rPr lang="en-US" altLang="ko-KR" sz="1000" dirty="0">
                <a:solidFill>
                  <a:schemeClr val="tx1"/>
                </a:solidFill>
              </a:rPr>
              <a:t>?</a:t>
            </a:r>
          </a:p>
          <a:p>
            <a:pPr algn="just">
              <a:lnSpc>
                <a:spcPct val="20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                                             </a:t>
            </a:r>
            <a:r>
              <a:rPr lang="ko-KR" altLang="en-US" sz="1000" dirty="0" err="1">
                <a:solidFill>
                  <a:schemeClr val="tx1"/>
                </a:solidFill>
              </a:rPr>
              <a:t>언제가</a:t>
            </a:r>
            <a:r>
              <a:rPr lang="ko-KR" altLang="en-US" sz="1000" dirty="0">
                <a:solidFill>
                  <a:schemeClr val="tx1"/>
                </a:solidFill>
              </a:rPr>
              <a:t> 괜찮으십니까</a:t>
            </a:r>
            <a:r>
              <a:rPr lang="en-US" altLang="ko-KR" sz="1000" dirty="0">
                <a:solidFill>
                  <a:schemeClr val="tx1"/>
                </a:solidFill>
              </a:rPr>
              <a:t>?</a:t>
            </a:r>
          </a:p>
          <a:p>
            <a:pPr algn="just">
              <a:lnSpc>
                <a:spcPct val="20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3. ‘-(</a:t>
            </a:r>
            <a:r>
              <a:rPr lang="ko-KR" altLang="en-US" sz="1000" dirty="0">
                <a:solidFill>
                  <a:schemeClr val="tx1"/>
                </a:solidFill>
              </a:rPr>
              <a:t>으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r>
              <a:rPr lang="ko-KR" altLang="en-US" sz="1000" dirty="0" err="1">
                <a:solidFill>
                  <a:schemeClr val="tx1"/>
                </a:solidFill>
              </a:rPr>
              <a:t>ㄹ래요</a:t>
            </a:r>
            <a:r>
              <a:rPr lang="en-US" altLang="ko-KR" sz="1000" dirty="0">
                <a:solidFill>
                  <a:schemeClr val="tx1"/>
                </a:solidFill>
              </a:rPr>
              <a:t>? : ‘-(</a:t>
            </a:r>
            <a:r>
              <a:rPr lang="ko-KR" altLang="en-US" sz="1000" dirty="0">
                <a:solidFill>
                  <a:schemeClr val="tx1"/>
                </a:solidFill>
              </a:rPr>
              <a:t>으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r>
              <a:rPr lang="ko-KR" altLang="en-US" sz="1000" dirty="0">
                <a:solidFill>
                  <a:schemeClr val="tx1"/>
                </a:solidFill>
              </a:rPr>
              <a:t>시겠습니까</a:t>
            </a:r>
            <a:r>
              <a:rPr lang="en-US" altLang="ko-KR" sz="1000" dirty="0">
                <a:solidFill>
                  <a:schemeClr val="tx1"/>
                </a:solidFill>
              </a:rPr>
              <a:t>?’, ‘-</a:t>
            </a:r>
            <a:r>
              <a:rPr lang="ko-KR" altLang="en-US" sz="1000" dirty="0">
                <a:solidFill>
                  <a:schemeClr val="tx1"/>
                </a:solidFill>
              </a:rPr>
              <a:t>괜찮으시겠습니까</a:t>
            </a:r>
            <a:r>
              <a:rPr lang="en-US" altLang="ko-KR" sz="1000" dirty="0">
                <a:solidFill>
                  <a:schemeClr val="tx1"/>
                </a:solidFill>
              </a:rPr>
              <a:t>?’, ‘-</a:t>
            </a:r>
            <a:r>
              <a:rPr lang="ko-KR" altLang="en-US" sz="1000" dirty="0">
                <a:solidFill>
                  <a:schemeClr val="tx1"/>
                </a:solidFill>
              </a:rPr>
              <a:t>는 것이 어떻겠습니까</a:t>
            </a:r>
            <a:r>
              <a:rPr lang="en-US" altLang="ko-KR" sz="1000" dirty="0">
                <a:solidFill>
                  <a:schemeClr val="tx1"/>
                </a:solidFill>
              </a:rPr>
              <a:t>?’</a:t>
            </a:r>
          </a:p>
          <a:p>
            <a:pPr algn="just">
              <a:lnSpc>
                <a:spcPct val="20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                    </a:t>
            </a:r>
            <a:r>
              <a:rPr lang="ko-KR" altLang="en-US" sz="1000" dirty="0">
                <a:solidFill>
                  <a:schemeClr val="tx1"/>
                </a:solidFill>
              </a:rPr>
              <a:t>예</a:t>
            </a:r>
            <a:r>
              <a:rPr lang="en-US" altLang="ko-KR" sz="1000" dirty="0">
                <a:solidFill>
                  <a:schemeClr val="tx1"/>
                </a:solidFill>
              </a:rPr>
              <a:t>) </a:t>
            </a:r>
            <a:r>
              <a:rPr lang="ko-KR" altLang="en-US" sz="1000" dirty="0">
                <a:solidFill>
                  <a:schemeClr val="tx1"/>
                </a:solidFill>
              </a:rPr>
              <a:t>같이 갈래요</a:t>
            </a:r>
            <a:r>
              <a:rPr lang="en-US" altLang="ko-KR" sz="1000" dirty="0">
                <a:solidFill>
                  <a:schemeClr val="tx1"/>
                </a:solidFill>
              </a:rPr>
              <a:t>? </a:t>
            </a:r>
            <a:r>
              <a:rPr lang="ko-KR" altLang="en-US" sz="1000" dirty="0">
                <a:solidFill>
                  <a:schemeClr val="tx1"/>
                </a:solidFill>
              </a:rPr>
              <a:t>→ 같이 가시겠습니까</a:t>
            </a:r>
            <a:r>
              <a:rPr lang="en-US" altLang="ko-KR" sz="1000" dirty="0">
                <a:solidFill>
                  <a:schemeClr val="tx1"/>
                </a:solidFill>
              </a:rPr>
              <a:t>?</a:t>
            </a:r>
          </a:p>
          <a:p>
            <a:pPr algn="just">
              <a:lnSpc>
                <a:spcPct val="20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                                              </a:t>
            </a:r>
            <a:r>
              <a:rPr lang="ko-KR" altLang="en-US" sz="1000" dirty="0">
                <a:solidFill>
                  <a:schemeClr val="tx1"/>
                </a:solidFill>
              </a:rPr>
              <a:t>같이 가는 것이 어떻겠습니까</a:t>
            </a:r>
            <a:r>
              <a:rPr lang="en-US" altLang="ko-KR" sz="1000" dirty="0">
                <a:solidFill>
                  <a:schemeClr val="tx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85367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</a:endParaRPr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26105" y="207818"/>
            <a:ext cx="3548243" cy="3665913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사장님께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,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그동안 잘 지내셨습니까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?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저는 고향에서 잘 지내고 있습니다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그런데 며칠 전에 같이 아르바이트 했던 아유미 씨에게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(                 ).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정말 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축하드립니다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사장님을 닮았으면 따님이 아주 예쁠 것 같습니다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축하의 뜻으로 작은 선물을 샀는데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(               )?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집이나 가게 중에서 받기 편한 곳을 알려 주시면 그곳으로 보내 드리겠습니다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아기와 사장님 모두 건강하게 지내시기를 바랍니다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아사코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드림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5554" y="4434079"/>
            <a:ext cx="3229341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㉠ 사장님께서 딸을 낳으셨다고 들었습니다  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5554" y="4867043"/>
            <a:ext cx="3229341" cy="46166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㉡ 어디로 보내 드리면 되겠습니까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주소를 알려 주시겠습니까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625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96FEA4C-8947-4B86-B2D4-1E8C3E3E7BA3}"/>
              </a:ext>
            </a:extLst>
          </p:cNvPr>
          <p:cNvSpPr/>
          <p:nvPr/>
        </p:nvSpPr>
        <p:spPr>
          <a:xfrm>
            <a:off x="1382324" y="86379"/>
            <a:ext cx="835801" cy="28769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945" dirty="0"/>
              <a:t>부탁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E25DDDA-C48F-4C01-AA0F-6B9FAD863978}"/>
              </a:ext>
            </a:extLst>
          </p:cNvPr>
          <p:cNvSpPr/>
          <p:nvPr/>
        </p:nvSpPr>
        <p:spPr>
          <a:xfrm>
            <a:off x="408206" y="705134"/>
            <a:ext cx="2784036" cy="182479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V-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아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어 주시겠습니까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? V-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아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어도 되겠습니까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?</a:t>
            </a:r>
          </a:p>
          <a:p>
            <a:pPr fontAlgn="base">
              <a:lnSpc>
                <a:spcPct val="160000"/>
              </a:lnSpc>
            </a:pP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V-(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으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ㄹ 수 있을까요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? V-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아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어도 될까요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?</a:t>
            </a:r>
          </a:p>
          <a:p>
            <a:pPr fontAlgn="base">
              <a:lnSpc>
                <a:spcPct val="160000"/>
              </a:lnSpc>
            </a:pP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V-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아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어 주시면 좋겠습니다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감사합니다</a:t>
            </a:r>
            <a:endParaRPr lang="en-US" altLang="ko-KR" sz="1200" kern="0" dirty="0">
              <a:solidFill>
                <a:srgbClr val="00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A05D644-CDC8-4FBF-96D6-E693408657E7}"/>
              </a:ext>
            </a:extLst>
          </p:cNvPr>
          <p:cNvSpPr/>
          <p:nvPr/>
        </p:nvSpPr>
        <p:spPr>
          <a:xfrm>
            <a:off x="138768" y="2805559"/>
            <a:ext cx="3322915" cy="2679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sz="826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 </a:t>
            </a:r>
            <a:endParaRPr lang="en-US" altLang="ko-KR" sz="826" kern="0" dirty="0">
              <a:solidFill>
                <a:srgbClr val="000000"/>
              </a:solidFill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320115D-0D8D-47B2-A0D8-594431C7BB01}"/>
              </a:ext>
            </a:extLst>
          </p:cNvPr>
          <p:cNvSpPr/>
          <p:nvPr/>
        </p:nvSpPr>
        <p:spPr>
          <a:xfrm>
            <a:off x="138767" y="2805559"/>
            <a:ext cx="3322915" cy="14241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60000"/>
              </a:lnSpc>
            </a:pPr>
            <a:r>
              <a:rPr lang="ko-KR" altLang="en-US" sz="14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 가르쳐 주시면 감사하겠습니다</a:t>
            </a:r>
            <a:r>
              <a:rPr lang="en-US" altLang="ko-KR" sz="14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</a:p>
          <a:p>
            <a:pPr fontAlgn="base">
              <a:lnSpc>
                <a:spcPct val="160000"/>
              </a:lnSpc>
            </a:pPr>
            <a:r>
              <a:rPr lang="en-US" altLang="ko-KR" sz="14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 </a:t>
            </a:r>
            <a:r>
              <a:rPr lang="ko-KR" altLang="en-US" sz="14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연락해 주실 수 있을까요</a:t>
            </a:r>
            <a:r>
              <a:rPr lang="en-US" altLang="ko-KR" sz="14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?</a:t>
            </a:r>
          </a:p>
          <a:p>
            <a:pPr fontAlgn="base">
              <a:lnSpc>
                <a:spcPct val="160000"/>
              </a:lnSpc>
            </a:pPr>
            <a:r>
              <a:rPr lang="en-US" altLang="ko-KR" sz="14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 </a:t>
            </a:r>
            <a:r>
              <a:rPr lang="ko-KR" altLang="en-US" sz="14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제가 방문해도 될까요</a:t>
            </a:r>
            <a:r>
              <a:rPr lang="en-US" altLang="ko-KR" sz="14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?</a:t>
            </a:r>
          </a:p>
          <a:p>
            <a:pPr fontAlgn="base">
              <a:lnSpc>
                <a:spcPct val="160000"/>
              </a:lnSpc>
            </a:pPr>
            <a:r>
              <a:rPr lang="en-US" altLang="ko-KR" sz="14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 </a:t>
            </a:r>
            <a:r>
              <a:rPr lang="ko-KR" altLang="en-US" sz="14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제게</a:t>
            </a:r>
            <a:r>
              <a:rPr lang="ko-KR" altLang="en-US" sz="14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알려 주시겠습니까</a:t>
            </a:r>
            <a:r>
              <a:rPr lang="en-US" altLang="ko-KR" sz="14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52628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96FEA4C-8947-4B86-B2D4-1E8C3E3E7BA3}"/>
              </a:ext>
            </a:extLst>
          </p:cNvPr>
          <p:cNvSpPr/>
          <p:nvPr/>
        </p:nvSpPr>
        <p:spPr>
          <a:xfrm>
            <a:off x="1430308" y="136256"/>
            <a:ext cx="739833" cy="4123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부탁</a:t>
            </a:r>
            <a:endParaRPr lang="ko-KR" altLang="en-US" sz="12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E25DDDA-C48F-4C01-AA0F-6B9FAD863978}"/>
              </a:ext>
            </a:extLst>
          </p:cNvPr>
          <p:cNvSpPr/>
          <p:nvPr/>
        </p:nvSpPr>
        <p:spPr>
          <a:xfrm>
            <a:off x="408206" y="1421052"/>
            <a:ext cx="2784036" cy="123386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V-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아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어 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줄래요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? </a:t>
            </a:r>
          </a:p>
          <a:p>
            <a:pPr fontAlgn="base">
              <a:lnSpc>
                <a:spcPct val="160000"/>
              </a:lnSpc>
            </a:pP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V-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아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어 줄 수 있어요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? V-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아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어도 돼요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?</a:t>
            </a:r>
          </a:p>
          <a:p>
            <a:pPr fontAlgn="base">
              <a:lnSpc>
                <a:spcPct val="160000"/>
              </a:lnSpc>
            </a:pP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V-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아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어 주면 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좋겠어요</a:t>
            </a:r>
            <a:endParaRPr lang="en-US" altLang="ko-KR" sz="1200" kern="0" dirty="0">
              <a:solidFill>
                <a:srgbClr val="00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A05D644-CDC8-4FBF-96D6-E693408657E7}"/>
              </a:ext>
            </a:extLst>
          </p:cNvPr>
          <p:cNvSpPr/>
          <p:nvPr/>
        </p:nvSpPr>
        <p:spPr>
          <a:xfrm>
            <a:off x="138768" y="2805559"/>
            <a:ext cx="3322915" cy="2679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sz="826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 </a:t>
            </a:r>
            <a:endParaRPr lang="en-US" altLang="ko-KR" sz="826" kern="0" dirty="0">
              <a:solidFill>
                <a:srgbClr val="000000"/>
              </a:solidFill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320115D-0D8D-47B2-A0D8-594431C7BB01}"/>
              </a:ext>
            </a:extLst>
          </p:cNvPr>
          <p:cNvSpPr/>
          <p:nvPr/>
        </p:nvSpPr>
        <p:spPr>
          <a:xfrm>
            <a:off x="138767" y="3020473"/>
            <a:ext cx="3322915" cy="1233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선생님 연락처 좀 가르쳐 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줄래요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?</a:t>
            </a:r>
          </a:p>
          <a:p>
            <a:pPr algn="just" fontAlgn="base">
              <a:lnSpc>
                <a:spcPct val="160000"/>
              </a:lnSpc>
            </a:pP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연락해 줄 수 있어요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?</a:t>
            </a:r>
          </a:p>
          <a:p>
            <a:pPr algn="just" fontAlgn="base">
              <a:lnSpc>
                <a:spcPct val="160000"/>
              </a:lnSpc>
            </a:pP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제가 가도 돼요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?</a:t>
            </a:r>
          </a:p>
          <a:p>
            <a:pPr algn="just" fontAlgn="base">
              <a:lnSpc>
                <a:spcPct val="160000"/>
              </a:lnSpc>
            </a:pP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 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제게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알려 주면 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좋겠어요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32048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96FEA4C-8947-4B86-B2D4-1E8C3E3E7BA3}"/>
              </a:ext>
            </a:extLst>
          </p:cNvPr>
          <p:cNvSpPr/>
          <p:nvPr/>
        </p:nvSpPr>
        <p:spPr>
          <a:xfrm>
            <a:off x="1077018" y="144568"/>
            <a:ext cx="1446414" cy="40407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70041">
              <a:defRPr/>
            </a:pPr>
            <a:r>
              <a:rPr lang="ko-KR" altLang="en-US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전달</a:t>
            </a:r>
            <a:r>
              <a:rPr lang="en-US" altLang="ko-KR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(</a:t>
            </a:r>
            <a:r>
              <a:rPr lang="ko-KR" altLang="en-US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간접화법</a:t>
            </a:r>
            <a:r>
              <a:rPr lang="en-US" altLang="ko-KR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)</a:t>
            </a:r>
            <a:endParaRPr lang="ko-KR" altLang="en-US" sz="12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E25DDDA-C48F-4C01-AA0F-6B9FAD863978}"/>
              </a:ext>
            </a:extLst>
          </p:cNvPr>
          <p:cNvSpPr/>
          <p:nvPr/>
        </p:nvSpPr>
        <p:spPr>
          <a:xfrm>
            <a:off x="408207" y="888013"/>
            <a:ext cx="2784036" cy="34746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A/V-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자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냐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라고 합니다</a:t>
            </a:r>
            <a:endParaRPr lang="en-US" altLang="ko-KR" sz="1200" kern="0" dirty="0">
              <a:solidFill>
                <a:srgbClr val="00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320115D-0D8D-47B2-A0D8-594431C7BB01}"/>
              </a:ext>
            </a:extLst>
          </p:cNvPr>
          <p:cNvSpPr/>
          <p:nvPr/>
        </p:nvSpPr>
        <p:spPr>
          <a:xfrm>
            <a:off x="138767" y="1710521"/>
            <a:ext cx="3322915" cy="938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 일기예보에 의하면 내일 비가 온다고 합니다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</a:p>
          <a:p>
            <a:pPr algn="just" defTabSz="270041" fontAlgn="base">
              <a:lnSpc>
                <a:spcPct val="160000"/>
              </a:lnSpc>
              <a:defRPr/>
            </a:pP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다음 주가 생신이라고 들었습니다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</a:p>
          <a:p>
            <a:pPr algn="just" defTabSz="270041" fontAlgn="base">
              <a:lnSpc>
                <a:spcPct val="160000"/>
              </a:lnSpc>
              <a:defRPr/>
            </a:pP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취직 시험에 합격했다고 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들었어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1352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55681" y="184947"/>
            <a:ext cx="3489088" cy="2832573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4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교수님 안녕하십니까</a:t>
            </a:r>
            <a:r>
              <a:rPr lang="en-US" altLang="ko-KR" sz="14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?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4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다음 주 월요일이 </a:t>
            </a:r>
            <a:r>
              <a:rPr lang="en-US" altLang="ko-KR" sz="14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(                             ).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4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생신을 진심으로 </a:t>
            </a:r>
            <a:r>
              <a:rPr lang="ko-KR" altLang="en-US" sz="14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축하드립니다</a:t>
            </a:r>
            <a:r>
              <a:rPr lang="en-US" altLang="ko-KR" sz="14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4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앞으로도 항상 </a:t>
            </a:r>
            <a:r>
              <a:rPr lang="en-US" altLang="ko-KR" sz="14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(                          ).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4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교수님께서 건강하시고 </a:t>
            </a:r>
            <a:r>
              <a:rPr lang="ko-KR" altLang="en-US" sz="14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행복하셔야</a:t>
            </a:r>
            <a:r>
              <a:rPr lang="ko-KR" altLang="en-US" sz="14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 저희들도 열심히 배울 수 있습니다</a:t>
            </a:r>
            <a:r>
              <a:rPr lang="en-US" altLang="ko-KR" sz="14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4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안녕히 계십시오</a:t>
            </a:r>
            <a:r>
              <a:rPr lang="en-US" altLang="ko-KR" sz="14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</a:t>
            </a:r>
            <a:endParaRPr lang="ko-KR" altLang="en-US" sz="1400" kern="0" dirty="0">
              <a:solidFill>
                <a:srgbClr val="000000"/>
              </a:solidFill>
              <a:latin typeface="함초롬바탕" panose="02030604000101010101" pitchFamily="18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784" y="3819034"/>
            <a:ext cx="3489088" cy="46166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㉠ 교수님의 생신으로 알고 있습니다</a:t>
            </a:r>
            <a:r>
              <a:rPr lang="en-US" altLang="ko-KR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</a:t>
            </a:r>
            <a:r>
              <a:rPr lang="ko-KR" altLang="en-US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생신이라고 들었습니다</a:t>
            </a:r>
            <a:endParaRPr lang="ko-KR" altLang="en-US" sz="120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784" y="4561792"/>
            <a:ext cx="3489088" cy="46166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㉡ 건강하시고 행복하시기 바랍니다</a:t>
            </a:r>
            <a:r>
              <a:rPr lang="en-US" altLang="ko-KR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</a:t>
            </a:r>
            <a:r>
              <a:rPr lang="ko-KR" altLang="en-US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행복하시면 좋겠습니다</a:t>
            </a:r>
            <a:endParaRPr lang="ko-KR" altLang="en-US" sz="120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3182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</a:endParaRPr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104544" y="157942"/>
            <a:ext cx="3391361" cy="2984269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fontAlgn="base">
              <a:lnSpc>
                <a:spcPct val="150000"/>
              </a:lnSpc>
            </a:pPr>
            <a:r>
              <a:rPr lang="ko-KR" altLang="en-US" sz="1200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왕신아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안녕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?</a:t>
            </a:r>
            <a:endParaRPr lang="ko-KR" altLang="en-US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fontAlgn="base">
              <a:lnSpc>
                <a:spcPct val="150000"/>
              </a:lnSpc>
            </a:pP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그동안 잘 지냈지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? 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나 다음 주에 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                      ). </a:t>
            </a:r>
            <a:endParaRPr lang="ko-KR" altLang="en-US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fontAlgn="base">
              <a:lnSpc>
                <a:spcPct val="150000"/>
              </a:lnSpc>
            </a:pP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회사에서 일 때문에 가는 건데 너희 고향을 구경하고 싶어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 </a:t>
            </a:r>
            <a:endParaRPr lang="ko-KR" altLang="en-US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fontAlgn="base">
              <a:lnSpc>
                <a:spcPct val="150000"/>
              </a:lnSpc>
            </a:pP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그런데 핸드폰을 바꿔서 연락처가 다 </a:t>
            </a:r>
            <a:r>
              <a:rPr lang="ko-KR" altLang="en-US" sz="1200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없어졌어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 </a:t>
            </a:r>
            <a:endParaRPr lang="ko-KR" altLang="en-US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fontAlgn="base">
              <a:lnSpc>
                <a:spcPct val="150000"/>
              </a:lnSpc>
            </a:pP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미안하지만 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                            )? </a:t>
            </a:r>
            <a:endParaRPr lang="ko-KR" altLang="en-US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fontAlgn="base">
              <a:lnSpc>
                <a:spcPct val="150000"/>
              </a:lnSpc>
            </a:pP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답장 </a:t>
            </a:r>
            <a:r>
              <a:rPr lang="ko-KR" altLang="en-US" sz="1200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기다릴게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  <a:endParaRPr lang="ko-KR" altLang="en-US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fontAlgn="base">
              <a:lnSpc>
                <a:spcPct val="150000"/>
              </a:lnSpc>
            </a:pP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미영이가</a:t>
            </a:r>
            <a:endParaRPr lang="en-US" altLang="ko-KR" sz="1000" kern="0" dirty="0">
              <a:latin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363" y="3503054"/>
            <a:ext cx="3384542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㉠ 네 고향에 갈 예정이야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네 고향에 가게 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됐어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4544" y="4178244"/>
            <a:ext cx="3384542" cy="46166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㉡ 연락처 좀 가르쳐 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줄래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전화번호 좀 가르쳐 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줄래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811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</a:endParaRPr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58508" y="124692"/>
            <a:ext cx="3483435" cy="3324356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제니퍼 씨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저 상우예요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 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다름이 아니라 부탁할 게 있어서 연락해요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영어로 번역할 자료가 있는데 지난주에 갑자기 아르바이트를 하게 됐어요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 </a:t>
            </a: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그래서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(                    )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번역 일을 끝낼 수가 없었어요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 </a:t>
            </a: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이번 주말까지 끝내야 하는데 혼자 하기 힘들 것 같아요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 (                    )?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함께 하면 이번 주말까지 다 할 수 있을 것 같아요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그럼 연락 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기다릴게요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 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9289" y="4035628"/>
            <a:ext cx="3229341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㉠ 시간이 없어서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시간이 부족해서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9290" y="4601035"/>
            <a:ext cx="3229341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㉡ 도와줄 수 있어요 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1403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</a:endParaRPr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65259" y="91440"/>
            <a:ext cx="3469934" cy="3327903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어머니께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어머니 잘 지내시죠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?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저는 여기에서 잘 지내고 있습니다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많이 익숙해져서 한국 음식도 잘 먹고 친구도 많이 사귀었어요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 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그런데 어머니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수업 시간에 쓸 가족사진이 필요한데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(                         ).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다음 주 금요일 수업에서 우리 가족 소개를 해야 하니까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(                        ).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그럼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건강하게 잘 지내시고 방학 때 가서 뵙겠습니다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                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투이 올림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259" y="4094794"/>
            <a:ext cx="3469934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㉠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(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가족 사진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)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좀 보내 주세요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260" y="4689443"/>
            <a:ext cx="3469934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㉡ 금요일 전까지 좀 보내주세요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698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119266" y="124691"/>
            <a:ext cx="3361920" cy="3146134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미영 씨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우리 내일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3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시에 백화점 앞에서 만나기로 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했잖아요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 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그런데 약속 시간을 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(               (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ㄱ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)              ). 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내일 아르바이트가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3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시에 끝나거든요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 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게다가 거기까지 가는 데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1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시간쯤 걸릴 것 같아요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미안하지만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(               (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ㄴ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)                 )? 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이 메시지 보면 연락주세요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9266" y="3717497"/>
            <a:ext cx="3361920" cy="46166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㉠ 지킬 수 없을 것 같아요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지키기 힘들 것 같아요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9266" y="4418802"/>
            <a:ext cx="3361920" cy="46166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㉡ 약속 시간을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4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시로 바꿀 수 있어요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약속 시간을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1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시간쯤 미룰 수 있어요  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0127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96FEA4C-8947-4B86-B2D4-1E8C3E3E7BA3}"/>
              </a:ext>
            </a:extLst>
          </p:cNvPr>
          <p:cNvSpPr/>
          <p:nvPr/>
        </p:nvSpPr>
        <p:spPr>
          <a:xfrm>
            <a:off x="1072861" y="133581"/>
            <a:ext cx="1454727" cy="3485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돌려 말하기</a:t>
            </a:r>
            <a:endParaRPr lang="ko-KR" altLang="en-US" sz="12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E25DDDA-C48F-4C01-AA0F-6B9FAD863978}"/>
              </a:ext>
            </a:extLst>
          </p:cNvPr>
          <p:cNvSpPr/>
          <p:nvPr/>
        </p:nvSpPr>
        <p:spPr>
          <a:xfrm>
            <a:off x="408206" y="1167947"/>
            <a:ext cx="2784036" cy="93839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V-(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으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)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ㄹ 것 같습니다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 </a:t>
            </a:r>
          </a:p>
          <a:p>
            <a:pPr algn="just" fontAlgn="base">
              <a:lnSpc>
                <a:spcPct val="160000"/>
              </a:lnSpc>
            </a:pP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V-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기가 어려울 것 같습니다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힘들 것 같습니다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A05D644-CDC8-4FBF-96D6-E693408657E7}"/>
              </a:ext>
            </a:extLst>
          </p:cNvPr>
          <p:cNvSpPr/>
          <p:nvPr/>
        </p:nvSpPr>
        <p:spPr>
          <a:xfrm>
            <a:off x="138766" y="2353187"/>
            <a:ext cx="3322915" cy="1233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 환불해 드리기 어려울 것 같습니다</a:t>
            </a:r>
            <a:endParaRPr lang="en-US" altLang="ko-KR" sz="1200" kern="0" dirty="0">
              <a:solidFill>
                <a:srgbClr val="000000"/>
              </a:solidFill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도서관 이용이 당분간 힘들 것 같습니다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</a:p>
          <a:p>
            <a:pPr algn="just" fontAlgn="base">
              <a:lnSpc>
                <a:spcPct val="160000"/>
              </a:lnSpc>
            </a:pP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약속 시간을 지키기 어려울 것 같아요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</a:p>
          <a:p>
            <a:pPr algn="just" fontAlgn="base">
              <a:lnSpc>
                <a:spcPct val="160000"/>
              </a:lnSpc>
            </a:pP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그 때까지 하기 힘들 것 같습니다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17220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</a:endParaRPr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84227" y="175009"/>
            <a:ext cx="3415431" cy="3332962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fontAlgn="base">
              <a:lnSpc>
                <a:spcPct val="160000"/>
              </a:lnSpc>
            </a:pP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티누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씨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오늘은 정말 미안했어요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갑자기 급한 일이 생겨서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(                (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ㄱ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)              ).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많이 기다렸어요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?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(               (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ㄴ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)              )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전화도 할 수 없었어요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조금 전에 집에 와서 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티누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씨 문자를 봤어요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미안해서 이렇게 메일을 보내요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정말 미안했어요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내일 학교에서 만나요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                                                   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제인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1866" y="3944899"/>
            <a:ext cx="3229341" cy="46166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㉠ 약속 장소에 갈 수 없었어요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약속을 못 지켰어요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1865" y="4601246"/>
            <a:ext cx="3229341" cy="46166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㉡ 전화기를 집에 두고 가서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배터리가 없어서 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5310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5B2BE9-AF4D-4D4D-9E6E-EF8352A71D53}"/>
              </a:ext>
            </a:extLst>
          </p:cNvPr>
          <p:cNvSpPr txBox="1"/>
          <p:nvPr/>
        </p:nvSpPr>
        <p:spPr>
          <a:xfrm>
            <a:off x="115857" y="1992758"/>
            <a:ext cx="3403494" cy="15108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약속을 지키다 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↔ 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약속을 지키지 않다 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= 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약속을 어기다</a:t>
            </a:r>
            <a:endParaRPr lang="en-US" altLang="ko-KR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약속을 미루다 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= 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약속을 연기하다</a:t>
            </a:r>
            <a:endParaRPr lang="en-US" altLang="ko-KR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약속을 취소하다</a:t>
            </a:r>
            <a:endParaRPr lang="en-US" altLang="ko-KR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15550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</a:endParaRPr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96312" y="148669"/>
            <a:ext cx="3407826" cy="2469840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뚜이 씨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미안해요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우리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11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시에 만나기로 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했잖아요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 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그런데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(                  (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ㄱ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)                 ).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아침에 일어나 보니까 이미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10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시였어요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 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지금 지하철 타고 가고 있는데 거의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(             (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ㄴ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)             ).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조금만 더 기다려 주세요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정말 미안해요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5556" y="2921523"/>
            <a:ext cx="3229341" cy="46166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㉠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11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시까지 가기 힘들 것 같아요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좀 늦을 것 같아요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5554" y="3686202"/>
            <a:ext cx="3229341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lvl="0" latinLnBrk="0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㉡ 다 왔어요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도착했어요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4339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</a:endParaRPr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65259" y="74815"/>
            <a:ext cx="3469934" cy="3333727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fontAlgn="base">
              <a:lnSpc>
                <a:spcPct val="150000"/>
              </a:lnSpc>
            </a:pP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이미영 부장님께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</a:t>
            </a:r>
            <a:endParaRPr lang="ko-KR" altLang="en-US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fontAlgn="base">
              <a:lnSpc>
                <a:spcPct val="150000"/>
              </a:lnSpc>
            </a:pP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안녕하세요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? 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신입사원 </a:t>
            </a:r>
            <a:r>
              <a:rPr lang="ko-KR" altLang="en-US" sz="1200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왕준입니다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  <a:endParaRPr lang="ko-KR" altLang="en-US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fontAlgn="base">
              <a:lnSpc>
                <a:spcPct val="150000"/>
              </a:lnSpc>
            </a:pP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지난번에 댁에 초대해 주셔서 감사했습니다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 </a:t>
            </a:r>
            <a:endParaRPr lang="ko-KR" altLang="en-US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fontAlgn="base">
              <a:lnSpc>
                <a:spcPct val="150000"/>
              </a:lnSpc>
            </a:pP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이번에는 저희 집으로 초대하고 싶습니다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 </a:t>
            </a:r>
            <a:endParaRPr lang="ko-KR" altLang="en-US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fontAlgn="base">
              <a:lnSpc>
                <a:spcPct val="150000"/>
              </a:lnSpc>
            </a:pP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제가 일은 아직 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                 (</a:t>
            </a:r>
            <a:r>
              <a:rPr lang="ko-KR" altLang="en-US" sz="1200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ㄱ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             ). 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그렇지만 요리는 자신 있습니다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  <a:endParaRPr lang="ko-KR" altLang="en-US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fontAlgn="base">
              <a:lnSpc>
                <a:spcPct val="150000"/>
              </a:lnSpc>
            </a:pP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다음 주 토요일과 일요일 중에서 언제 시간이 되십니까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?</a:t>
            </a:r>
            <a:endParaRPr lang="ko-KR" altLang="en-US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fontAlgn="base">
              <a:lnSpc>
                <a:spcPct val="150000"/>
              </a:lnSpc>
            </a:pP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저는 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              (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ㄴ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           ). 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부장님께서 편한 요일을 말씀해 주시면 감사하겠습니다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                                                                          </a:t>
            </a:r>
            <a:r>
              <a:rPr lang="ko-KR" altLang="en-US" sz="1200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왕준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올림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260" y="3709747"/>
            <a:ext cx="3469934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㉠ 자신이 없습니다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잘 못합니다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259" y="4178241"/>
            <a:ext cx="3469933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㉡ 언제든지 괜찮습니다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0627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</a:endParaRPr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111164" y="199506"/>
            <a:ext cx="3378122" cy="3214438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fontAlgn="base">
              <a:lnSpc>
                <a:spcPct val="150000"/>
              </a:lnSpc>
            </a:pP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민우 씨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</a:t>
            </a:r>
            <a:endParaRPr lang="ko-KR" altLang="en-US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fontAlgn="base">
              <a:lnSpc>
                <a:spcPct val="150000"/>
              </a:lnSpc>
            </a:pP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잘 지내죠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? </a:t>
            </a:r>
            <a:endParaRPr lang="ko-KR" altLang="en-US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fontAlgn="base">
              <a:lnSpc>
                <a:spcPct val="150000"/>
              </a:lnSpc>
            </a:pP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지난번에 제가 말한 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              (</a:t>
            </a:r>
            <a:r>
              <a:rPr lang="ko-KR" altLang="en-US" sz="1200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ㄱ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            )?</a:t>
            </a:r>
            <a:endParaRPr lang="ko-KR" altLang="en-US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fontAlgn="base">
              <a:lnSpc>
                <a:spcPct val="150000"/>
              </a:lnSpc>
            </a:pP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보수도 괜찮고 일주일에 하루만 하면 돼요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  <a:endParaRPr lang="ko-KR" altLang="en-US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fontAlgn="base">
              <a:lnSpc>
                <a:spcPct val="150000"/>
              </a:lnSpc>
            </a:pP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              (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ㄴ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              ) 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빨리 연락주세요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  <a:endParaRPr lang="ko-KR" altLang="en-US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fontAlgn="base">
              <a:lnSpc>
                <a:spcPct val="150000"/>
              </a:lnSpc>
            </a:pP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 아르바이트를 하고 싶어하는 사람이 많거든요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  <a:endParaRPr lang="ko-KR" altLang="en-US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fontAlgn="base">
              <a:lnSpc>
                <a:spcPct val="150000"/>
              </a:lnSpc>
            </a:pP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그럼 주말 잘 보내세요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  <a:endParaRPr lang="ko-KR" altLang="en-US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fontAlgn="base">
              <a:lnSpc>
                <a:spcPct val="150000"/>
              </a:lnSpc>
            </a:pPr>
            <a:r>
              <a:rPr lang="ko-KR" altLang="en-US" sz="1200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아사코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5553" y="3873262"/>
            <a:ext cx="3229341" cy="46166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㉠ 아르바이트 생각해 봤어요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아르바이트 기억해요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5553" y="4794245"/>
            <a:ext cx="3229341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㉡ 할 생각 있으면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하고 싶으면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8973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</a:endParaRPr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74710" y="74816"/>
            <a:ext cx="3451031" cy="3287820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fontAlgn="base">
              <a:lnSpc>
                <a:spcPct val="150000"/>
              </a:lnSpc>
            </a:pP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준호 씨에게</a:t>
            </a:r>
          </a:p>
          <a:p>
            <a:pPr fontAlgn="base">
              <a:lnSpc>
                <a:spcPct val="150000"/>
              </a:lnSpc>
            </a:pP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준호 씨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그동안 잘 지냈어요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?</a:t>
            </a:r>
            <a:endParaRPr lang="ko-KR" altLang="en-US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fontAlgn="base">
              <a:lnSpc>
                <a:spcPct val="150000"/>
              </a:lnSpc>
            </a:pP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오늘 메일을 쓰는 이유는 다름이 아니라 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               (</a:t>
            </a:r>
            <a:r>
              <a:rPr lang="ko-KR" altLang="en-US" sz="1200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ㄱ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             ).</a:t>
            </a:r>
            <a:endParaRPr lang="ko-KR" altLang="en-US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fontAlgn="base">
              <a:lnSpc>
                <a:spcPct val="150000"/>
              </a:lnSpc>
            </a:pP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갑자기 급한 일이 생기는 바람에 부탁하신 일을 할 수가 없었어요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  <a:endParaRPr lang="ko-KR" altLang="en-US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fontAlgn="base">
              <a:lnSpc>
                <a:spcPct val="150000"/>
              </a:lnSpc>
            </a:pP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다음 주까지는 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                (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ㄴ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            ). 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조금만 더 기다려 주세요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  <a:endParaRPr lang="ko-KR" altLang="en-US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fontAlgn="base">
              <a:lnSpc>
                <a:spcPct val="150000"/>
              </a:lnSpc>
            </a:pP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정말 죄송합니다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  <a:endParaRPr lang="ko-KR" altLang="en-US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fontAlgn="base">
              <a:lnSpc>
                <a:spcPct val="150000"/>
              </a:lnSpc>
            </a:pP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제니퍼가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5554" y="3923061"/>
            <a:ext cx="3229341" cy="46166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㉠ 부탁하신 일을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(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아직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)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다 끝내지 못해서예요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5553" y="4668152"/>
            <a:ext cx="3229341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㉡ 꼭 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끝낼게요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반드시 끝내도록 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할게요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1103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539160-D864-4A83-980E-EE6EFF6C7463}"/>
              </a:ext>
            </a:extLst>
          </p:cNvPr>
          <p:cNvSpPr txBox="1"/>
          <p:nvPr/>
        </p:nvSpPr>
        <p:spPr>
          <a:xfrm>
            <a:off x="660380" y="904560"/>
            <a:ext cx="2279691" cy="33361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V-(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으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</a:t>
            </a:r>
            <a:r>
              <a:rPr lang="ko-KR" altLang="en-US" sz="1200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ㄹ게요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/ -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겠습니다</a:t>
            </a:r>
            <a:endParaRPr lang="en-US" altLang="ko-KR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E60CABC-CBD1-4141-AAAE-5C9920B0DF43}"/>
              </a:ext>
            </a:extLst>
          </p:cNvPr>
          <p:cNvSpPr/>
          <p:nvPr/>
        </p:nvSpPr>
        <p:spPr>
          <a:xfrm>
            <a:off x="1336849" y="283209"/>
            <a:ext cx="926751" cy="2584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약속</a:t>
            </a:r>
            <a:endParaRPr lang="ko-KR" altLang="en-US" sz="12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74284B-CFDF-4401-8D7D-B8806F8D2A7B}"/>
              </a:ext>
            </a:extLst>
          </p:cNvPr>
          <p:cNvSpPr/>
          <p:nvPr/>
        </p:nvSpPr>
        <p:spPr>
          <a:xfrm>
            <a:off x="401485" y="1601125"/>
            <a:ext cx="279747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약속을 </a:t>
            </a:r>
            <a:r>
              <a:rPr lang="ko-KR" altLang="en-US" sz="1200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지킬게요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 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약속을 꼭 지키겠습니다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</a:p>
          <a:p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</a:p>
          <a:p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내일까지 꼭 제출하겠습니다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</a:p>
          <a:p>
            <a:endParaRPr lang="en-US" altLang="ko-KR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상우 씨가 도와준 것은 잊지 </a:t>
            </a:r>
            <a:r>
              <a:rPr lang="ko-KR" altLang="en-US" sz="1200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않을게요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  <a:endParaRPr lang="ko-KR" altLang="en-US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61628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</a:endParaRPr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80111" y="83127"/>
            <a:ext cx="3440230" cy="3370583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교수님께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안녕하십니까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?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교수님의 수업을 듣는 학생입니다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다름이 아니라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(            (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ㄱ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)           )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수업에 가지 못 했습니다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부모님께서 한국어를 못 하셔서 제가 공항에 가지 않으면 오실 수가 없으셨습니다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 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정말 죄송합니다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수업에 가지 못한 대신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(            (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ㄴ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)               ).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주신 과제는 다음 주에 꼭 제출하겠습니다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그럼 안녕히 계십시오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                                                      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마이클 드림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5553" y="3920854"/>
            <a:ext cx="3229341" cy="46166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㉠ 부모님 때문에 공항에 가느라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부모님 마중을 가느라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5552" y="4739953"/>
            <a:ext cx="3229341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㉡ 과제를 하겠습니다 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4933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9B95B3C-B45B-425A-B48C-C932A370B190}"/>
              </a:ext>
            </a:extLst>
          </p:cNvPr>
          <p:cNvSpPr/>
          <p:nvPr/>
        </p:nvSpPr>
        <p:spPr>
          <a:xfrm>
            <a:off x="1268083" y="457723"/>
            <a:ext cx="1064284" cy="56474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감사</a:t>
            </a:r>
            <a:r>
              <a:rPr lang="en-US" altLang="ko-KR" sz="1200" dirty="0"/>
              <a:t>/</a:t>
            </a:r>
            <a:r>
              <a:rPr lang="ko-KR" altLang="en-US" sz="1200" dirty="0"/>
              <a:t>사과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2EF54E6-0089-43BE-ADE9-B77876201849}"/>
              </a:ext>
            </a:extLst>
          </p:cNvPr>
          <p:cNvSpPr/>
          <p:nvPr/>
        </p:nvSpPr>
        <p:spPr>
          <a:xfrm>
            <a:off x="253138" y="1560351"/>
            <a:ext cx="3094173" cy="64293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V-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아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어 주셔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(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서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)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감사합니다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고맙습니다</a:t>
            </a:r>
            <a:endParaRPr lang="en-US" altLang="ko-KR" sz="1200" kern="0" dirty="0">
              <a:solidFill>
                <a:srgbClr val="000000"/>
              </a:solidFill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V-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아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어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(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서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)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죄송합니다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미안합니다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8192B68-18E5-423C-8E24-E51CC44A9286}"/>
              </a:ext>
            </a:extLst>
          </p:cNvPr>
          <p:cNvSpPr/>
          <p:nvPr/>
        </p:nvSpPr>
        <p:spPr>
          <a:xfrm>
            <a:off x="138766" y="2505529"/>
            <a:ext cx="3322915" cy="6429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결혼식에 참석해 주셔서 감사합니다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불편을 끼쳐 대단히 죄송합니다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897692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363CB3-2B66-46CE-A927-20EE1ACE16F0}"/>
              </a:ext>
            </a:extLst>
          </p:cNvPr>
          <p:cNvSpPr txBox="1"/>
          <p:nvPr/>
        </p:nvSpPr>
        <p:spPr>
          <a:xfrm>
            <a:off x="118530" y="345624"/>
            <a:ext cx="3363390" cy="298819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defTabSz="270041">
              <a:lnSpc>
                <a:spcPct val="200000"/>
              </a:lnSpc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구입하다 </a:t>
            </a:r>
            <a:r>
              <a:rPr lang="en-US" altLang="ko-KR" sz="1200" dirty="0">
                <a:solidFill>
                  <a:prstClr val="black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/ </a:t>
            </a:r>
            <a:r>
              <a:rPr lang="ko-KR" altLang="en-US" sz="1200" dirty="0">
                <a:solidFill>
                  <a:prstClr val="black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구매하다 </a:t>
            </a:r>
            <a:r>
              <a:rPr lang="en-US" altLang="ko-KR" sz="1200" dirty="0">
                <a:solidFill>
                  <a:prstClr val="black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sz="1200" dirty="0">
                <a:solidFill>
                  <a:prstClr val="black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사다</a:t>
            </a:r>
            <a:r>
              <a:rPr lang="en-US" altLang="ko-KR" sz="1200" dirty="0">
                <a:solidFill>
                  <a:prstClr val="black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     ↔    </a:t>
            </a:r>
            <a:r>
              <a:rPr lang="ko-KR" altLang="en-US" sz="1200" dirty="0">
                <a:solidFill>
                  <a:prstClr val="black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판매하다 </a:t>
            </a:r>
            <a:r>
              <a:rPr lang="en-US" altLang="ko-KR" sz="1200" dirty="0">
                <a:solidFill>
                  <a:prstClr val="black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sz="1200" dirty="0">
                <a:solidFill>
                  <a:prstClr val="black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팔다</a:t>
            </a:r>
            <a:r>
              <a:rPr lang="en-US" altLang="ko-KR" sz="1200" dirty="0">
                <a:solidFill>
                  <a:prstClr val="black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 </a:t>
            </a:r>
          </a:p>
          <a:p>
            <a:pPr defTabSz="270041">
              <a:lnSpc>
                <a:spcPct val="200000"/>
              </a:lnSpc>
              <a:defRPr/>
            </a:pPr>
            <a:r>
              <a:rPr lang="ko-KR" altLang="en-US" sz="1200" dirty="0">
                <a:solidFill>
                  <a:prstClr val="black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주문하다     ↔     취소하다</a:t>
            </a:r>
            <a:endParaRPr lang="en-US" altLang="ko-KR" sz="1200" dirty="0">
              <a:solidFill>
                <a:prstClr val="black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defTabSz="270041">
              <a:lnSpc>
                <a:spcPct val="200000"/>
              </a:lnSpc>
              <a:defRPr/>
            </a:pPr>
            <a:r>
              <a:rPr lang="en-US" altLang="ko-KR" sz="1200" dirty="0">
                <a:solidFill>
                  <a:prstClr val="black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교환하다 </a:t>
            </a:r>
            <a:r>
              <a:rPr lang="en-US" altLang="ko-KR" sz="1200" dirty="0">
                <a:solidFill>
                  <a:prstClr val="black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sz="1200" dirty="0">
                <a:solidFill>
                  <a:prstClr val="black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바꾸다</a:t>
            </a:r>
            <a:r>
              <a:rPr lang="en-US" altLang="ko-KR" sz="1200" dirty="0">
                <a:solidFill>
                  <a:prstClr val="black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</a:t>
            </a:r>
          </a:p>
          <a:p>
            <a:pPr defTabSz="270041">
              <a:lnSpc>
                <a:spcPct val="200000"/>
              </a:lnSpc>
              <a:defRPr/>
            </a:pPr>
            <a:r>
              <a:rPr lang="ko-KR" altLang="en-US" sz="1200" dirty="0">
                <a:solidFill>
                  <a:prstClr val="black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환불하다</a:t>
            </a:r>
            <a:endParaRPr lang="en-US" altLang="ko-KR" sz="1200" dirty="0">
              <a:solidFill>
                <a:prstClr val="black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defTabSz="270041">
              <a:lnSpc>
                <a:spcPct val="200000"/>
              </a:lnSpc>
              <a:defRPr/>
            </a:pPr>
            <a:r>
              <a:rPr lang="en-US" altLang="ko-KR" sz="1200" dirty="0">
                <a:solidFill>
                  <a:prstClr val="black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N</a:t>
            </a:r>
            <a:r>
              <a:rPr lang="ko-KR" altLang="en-US" sz="1200" dirty="0">
                <a:solidFill>
                  <a:prstClr val="black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을</a:t>
            </a:r>
            <a:r>
              <a:rPr lang="en-US" altLang="ko-KR" sz="1200" dirty="0">
                <a:solidFill>
                  <a:prstClr val="black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/</a:t>
            </a:r>
            <a:r>
              <a:rPr lang="ko-KR" altLang="en-US" sz="1200" dirty="0">
                <a:solidFill>
                  <a:prstClr val="black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를 원하다 </a:t>
            </a:r>
            <a:endParaRPr lang="en-US" altLang="ko-KR" sz="1200" dirty="0">
              <a:solidFill>
                <a:prstClr val="black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0">
              <a:lnSpc>
                <a:spcPct val="200000"/>
              </a:lnSpc>
              <a:defRPr/>
            </a:pPr>
            <a:r>
              <a:rPr lang="en-US" altLang="ko-KR" sz="1200" dirty="0">
                <a:solidFill>
                  <a:prstClr val="black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•</a:t>
            </a:r>
            <a:r>
              <a:rPr lang="en-US" altLang="ko-KR" sz="1200" dirty="0">
                <a:solidFill>
                  <a:prstClr val="black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교환을 원합니다</a:t>
            </a:r>
            <a:r>
              <a:rPr lang="en-US" altLang="ko-KR" sz="1200" dirty="0">
                <a:solidFill>
                  <a:prstClr val="black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 </a:t>
            </a:r>
          </a:p>
          <a:p>
            <a:pPr lvl="0">
              <a:lnSpc>
                <a:spcPct val="200000"/>
              </a:lnSpc>
              <a:defRPr/>
            </a:pPr>
            <a:r>
              <a:rPr lang="en-US" altLang="ko-KR" sz="1200" dirty="0">
                <a:solidFill>
                  <a:prstClr val="black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•</a:t>
            </a:r>
            <a:r>
              <a:rPr lang="en-US" altLang="ko-KR" sz="1200" dirty="0">
                <a:solidFill>
                  <a:prstClr val="black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환불을 원합니다</a:t>
            </a:r>
            <a:r>
              <a:rPr lang="en-US" altLang="ko-KR" sz="1200" dirty="0">
                <a:solidFill>
                  <a:prstClr val="black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74368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646005-11CE-47C8-933C-3C0C7273BA55}"/>
              </a:ext>
            </a:extLst>
          </p:cNvPr>
          <p:cNvSpPr txBox="1"/>
          <p:nvPr/>
        </p:nvSpPr>
        <p:spPr>
          <a:xfrm>
            <a:off x="137062" y="260176"/>
            <a:ext cx="3326325" cy="365760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접수하다</a:t>
            </a:r>
            <a:endParaRPr lang="en-US" altLang="ko-KR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•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노래 대회 참가를 원하시는 분은 신청서를 접수하시면 됩니다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•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입학 원서를 접수하고 기다리고 있다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제출하다</a:t>
            </a:r>
            <a:endParaRPr lang="en-US" altLang="ko-KR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•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과제는 다음 주까지 모두 제출해야 합니다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•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비자를 받으려면 필요한 서류들을 대사관에 제출해야 합니다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예약하다</a:t>
            </a:r>
            <a:endParaRPr lang="en-US" altLang="ko-KR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•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휴가에 여행을 가려고 호텔을 예약했습니다</a:t>
            </a:r>
            <a:endParaRPr lang="en-US" altLang="ko-KR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예매하다 </a:t>
            </a:r>
            <a:endParaRPr lang="en-US" altLang="ko-KR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•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명절에 고향에 가려면 비행기 표를 일찍 예매하는 게 좋아요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  <a:endParaRPr lang="ko-KR" altLang="en-US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26643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69056"/>
            <a:ext cx="8022814" cy="65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251"/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99336" y="199082"/>
            <a:ext cx="3401777" cy="3095451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010-2345-2345 8/16 11:00</a:t>
            </a:r>
          </a:p>
          <a:p>
            <a:pPr algn="just" fontAlgn="base">
              <a:lnSpc>
                <a:spcPct val="160000"/>
              </a:lnSpc>
            </a:pP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김미정 고객님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조금 전에 전화 드렸는데 안 받으셔서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(         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㉠         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).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환불을 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원하신다고요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?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정말 죄송하지만 저희 쇼핑몰은 교환은 가능하지만 환불은 불가능합니다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혹시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(              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㉡              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)?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교환은 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가능하오니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이 번호로 연락 주시면 감사하겠습니다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5554" y="3878010"/>
            <a:ext cx="3229341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㉠ 문자 메시지를 남깁니다</a:t>
            </a:r>
            <a:endParaRPr lang="ko-KR" altLang="en-US"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185554" y="4650912"/>
            <a:ext cx="3229341" cy="46166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㉡ 교환이라도 하시겠습니까 </a:t>
            </a:r>
            <a:r>
              <a:rPr lang="en-US" altLang="ko-KR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 </a:t>
            </a:r>
            <a:r>
              <a:rPr lang="ko-KR" altLang="en-US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교환도 괜찮으시겠습니까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840189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</a:endParaRPr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67960" y="133004"/>
            <a:ext cx="3464533" cy="3316043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김상우 고객님께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문의하신 상품의 경우 고객님께서 원하시는 사이즈가 없습니다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 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불편을 끼쳐드려 대단히 죄송하게 생각합니다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환불을 원하시면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(                       ).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그러나 혹시 다른 색상이라도 괜찮으시다면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(                          ). 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검정색과 흰색은 원하시는 사이즈가 있으니 교환을 원하시면 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연락주십시오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불편을 드려 정말 죄송합니다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5554" y="3870977"/>
            <a:ext cx="3229341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㉠ 환불해 드리겠습니다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5554" y="4542847"/>
            <a:ext cx="3229341" cy="46166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㉡ 교환해 드리겠습니다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교환도 가능합니다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710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</a:endParaRPr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111363" y="182880"/>
            <a:ext cx="3396608" cy="3212161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fontAlgn="base" latinLnBrk="0">
              <a:lnSpc>
                <a:spcPct val="160000"/>
              </a:lnSpc>
            </a:pP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		[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한국 항공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]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예약 안내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김미정 고객님께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,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예약하신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8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월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16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일 인천 출발 북경 행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HE0629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편 항공권에 대한 안내입니다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항공권 구입 기한은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8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월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13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일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17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시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30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분입니다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그러니까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(                     ). 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만약 구입기한까지 구입하지 않으시면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(                         ). 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취소 후에는 처음부터 다시 예약을 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하셔야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합니다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5554" y="3860031"/>
            <a:ext cx="3229341" cy="46166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㉠ 기한까지 구입하시기 바랍니다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 /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기한 내에 구입하시기 바랍니다  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5554" y="4671526"/>
            <a:ext cx="3229341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㉡ 예약이 취소됩니다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0592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</a:endParaRPr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114188" y="83127"/>
            <a:ext cx="3372073" cy="3619855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받는 사람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: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김영희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정지원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강은정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김미화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......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제목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: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체육 대회 취소 안내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안녕하십니까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? 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다름이 아니라 다음 주 토요일에 열릴 체육대회에 대해 안내하고자 합니다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비가 올 경우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(                       )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착오 없으시기 바랍니다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비가 오지 않으면 예정대로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9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시에 시작하겠습니다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 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그리고 물은 따로 준비하지 않을 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예정이오니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(                          ).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5554" y="3936976"/>
            <a:ext cx="3229341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㉠ 취소 되니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취소될 예정이니   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5554" y="4483360"/>
            <a:ext cx="3229341" cy="46166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㉡ 각자 준비해 주시기 바랍니다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개인적으로 준비해 오시기 바랍니다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7963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363CB3-2B66-46CE-A927-20EE1ACE16F0}"/>
              </a:ext>
            </a:extLst>
          </p:cNvPr>
          <p:cNvSpPr txBox="1"/>
          <p:nvPr/>
        </p:nvSpPr>
        <p:spPr>
          <a:xfrm>
            <a:off x="118530" y="240465"/>
            <a:ext cx="3363390" cy="41017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/>
              <a:t> 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변경하다 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/ 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변경되다 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– 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바꾸다 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/ 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바뀌다</a:t>
            </a:r>
            <a:endParaRPr lang="en-US" altLang="ko-KR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• 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회의 시간을 변경하고자 합니다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 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가능한 시간을 알려 주십시오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• 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모임 장소가 변경되었습니다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 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착오 없으시기 바랍니다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취소하다 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/ 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취소되다</a:t>
            </a:r>
            <a:endParaRPr lang="en-US" altLang="ko-KR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• 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태풍으로 인해 체육대회가 취소되었습니다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• 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예약 취소를 원하시면 출발 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1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일 전에 연락 주시기 바랍니다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연기하다 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/ 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연기되다</a:t>
            </a:r>
            <a:endParaRPr lang="en-US" altLang="ko-KR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• </a:t>
            </a:r>
            <a:r>
              <a:rPr lang="ko-KR" altLang="en-US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출발 일정이 일주일 후로 연기되었습니다</a:t>
            </a:r>
            <a:r>
              <a:rPr lang="en-US" altLang="ko-KR" sz="1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4257640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</a:endParaRPr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46239" y="83127"/>
            <a:ext cx="3486135" cy="3208713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받는 사람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: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신영진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김미경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박영철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.....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제목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: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연락처를 재정비합니다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사원 여러분 안녕하십니까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?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다름이 아니라 사원 여러분의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(                       ).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아직까지 연락처를 등록하지 않은 분들은 인사과로 알려 주시기 바랍니다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연락처가 바뀐 분들도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(                        ).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번거롭겠지만 사원 여러분의 적극적인 참여를 바랍니다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감사합니다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4635" y="3905128"/>
            <a:ext cx="3229341" cy="46166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㉠ 연락처를 새로 만들고자 합니다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연락처를 재정비하고자 합니다  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4634" y="4576098"/>
            <a:ext cx="3229341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㉡ 알려 주시기 바랍니다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2017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</a:endParaRPr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87311" y="174567"/>
            <a:ext cx="3425828" cy="3170850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김민석 님의 병원 예약일을 알려드립니다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예약하신 날짜는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9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월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1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일 오후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1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시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30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분입니다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늦어도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1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시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20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분까지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(                           ) 1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층 접수창구에서 접수해 주시기 바랍니다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예약 시간에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(                      )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진료를 못 받을 수도 있습니다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 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그러므로 시간을 꼭 지켜 주시기 바랍니다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5554" y="3565433"/>
            <a:ext cx="3229341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㉠ 도착하셔서 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5553" y="4304893"/>
            <a:ext cx="3229341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㉡ 도착하지 못 하시면 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3647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</a:endParaRPr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93612" y="340493"/>
            <a:ext cx="3413226" cy="3209042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저희 대구 백화점을 이용해 주시는 고객님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항상 감사드립니다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감사의 뜻으로 고객님께 할인 쿠폰을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(                                ).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지급해 드리는 쿠폰은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8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월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15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일까지 사용 가능합니다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쿠폰을 보여 주시면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(                                   ). 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기간 안에 방문하셔서 할인도 받으시고 사은품 혜택도 받으시기 바랍니다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5554" y="3804351"/>
            <a:ext cx="3229341" cy="46166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㉠ 지급해 드리려고 합니다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지급해 드리고자 합니다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5554" y="4470751"/>
            <a:ext cx="3229341" cy="46166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㉡ 사은품도 받으실 수 있습니다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사은품 혜택도 받으실 수 있습니다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9274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</a:endParaRPr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116564" y="245173"/>
            <a:ext cx="3367321" cy="2888725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정민주 고객님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고객님의 휴대폰 수리 문제로 전화를 드렸지만 안 받으셔서 이렇게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(             ).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문자 보시는 대로 이 번호로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(                      ). 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수리비 문제로 알려 드릴 것이 있습니다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 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연락 기다리겠습니다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5554" y="3649098"/>
            <a:ext cx="3229341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㉠ 문자를 남깁니다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문자를 보냅니다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5554" y="4291065"/>
            <a:ext cx="3229341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㉡ 연락주시기 바랍니다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1840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</a:endParaRPr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97662" y="207819"/>
            <a:ext cx="3405126" cy="3063144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신진욱 고객님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택배 기사입니다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고객님께서 주문하신 상품이 오늘 배송 예정입니다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오후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1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시에서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2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시 사이 방문할 예정입니다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그 시간에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(                      )?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fontAlgn="base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혹시 댁에 안 계실 경우 이 번호로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(                        ).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5553" y="3686452"/>
            <a:ext cx="3229341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㉠ 댁에 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계신지요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댁에 계십니까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5552" y="4321360"/>
            <a:ext cx="3229341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㉡ 연락주시기 바랍니다</a:t>
            </a:r>
            <a:endParaRPr lang="ko-KR" altLang="en-US" sz="12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1309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55681" y="252511"/>
            <a:ext cx="3489088" cy="2627214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사장님께서 다음 주 월요일 오후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2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시에 공항에 도착하신다고 들었습니다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한국에 처음 오시는 사장님을 위해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(                                   ).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공항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3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번 출구에서 기다릴 예정입니다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혹시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(                                           ).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일정 변경이 없으시면 연락하지 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않으셔도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 됩니다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 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안녕히 계십시오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428" y="3216131"/>
            <a:ext cx="3375931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㉠ 제가 공항으로 마중을 나가고자 합니다</a:t>
            </a:r>
            <a:endParaRPr lang="ko-KR" altLang="en-US" sz="120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259" y="3801823"/>
            <a:ext cx="3375931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㉡ 일정이 변경되면 연락주시기 바랍니다</a:t>
            </a:r>
            <a:endParaRPr lang="ko-KR" altLang="en-US" sz="120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3447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54784" y="567360"/>
            <a:ext cx="3489088" cy="2092713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다음 주 토요일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5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시에 베이징으로 가는 비행기 표를 예약한 사람입니다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그런데 갑자기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(                          ).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일요일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(                          )?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가능하면 오전이 좋겠습니다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연락 기다리겠습니다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362" y="3308648"/>
            <a:ext cx="3375931" cy="46166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㉠ 일이 생겨서 못 가게 됐습니다</a:t>
            </a:r>
            <a:r>
              <a:rPr lang="en-US" altLang="ko-KR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</a:t>
            </a:r>
            <a:r>
              <a:rPr lang="ko-KR" altLang="en-US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사정이 생겨서 예약을 변경할까 합니다</a:t>
            </a:r>
            <a:endParaRPr lang="ko-KR" altLang="en-US" sz="120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259" y="4258757"/>
            <a:ext cx="3375931" cy="46166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㉡ 비행기 표로 바꿀 수 있습니까</a:t>
            </a:r>
            <a:r>
              <a:rPr lang="en-US" altLang="ko-KR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</a:t>
            </a:r>
            <a:r>
              <a:rPr lang="ko-KR" altLang="en-US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비행기로 변경할 수 있습니까</a:t>
            </a:r>
            <a:endParaRPr lang="ko-KR" altLang="en-US" sz="120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7153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54784" y="381628"/>
            <a:ext cx="3489088" cy="2674381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저는 지난주에 귀사에서 아들 생일 선물로 구두를 샀습니다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물건은 잘 받았지만 아들이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(                            ).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그래서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(                                    )?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다른 물건으로 바꾸면 좋겠지만 마음에 드는 것이 없다고 합니다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죄송합니다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362" y="3512643"/>
            <a:ext cx="3375931" cy="46166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㉠ 마음에 </a:t>
            </a:r>
            <a:r>
              <a:rPr lang="ko-KR" altLang="en-US" sz="120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들어하지</a:t>
            </a:r>
            <a:r>
              <a:rPr lang="ko-KR" altLang="en-US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않습니다</a:t>
            </a:r>
            <a:r>
              <a:rPr lang="en-US" altLang="ko-KR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</a:t>
            </a:r>
            <a:r>
              <a:rPr lang="ko-KR" altLang="en-US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마음에 들지 않는다고 합니다</a:t>
            </a:r>
            <a:endParaRPr lang="ko-KR" altLang="en-US" sz="120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362" y="4176874"/>
            <a:ext cx="3375931" cy="46166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㉡ 환불을 하고 싶은데 가능합니까</a:t>
            </a:r>
            <a:r>
              <a:rPr lang="en-US" altLang="ko-KR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/</a:t>
            </a:r>
            <a:r>
              <a:rPr lang="ko-KR" altLang="en-US" sz="12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환불을 해 주실 수 있을까요</a:t>
            </a:r>
            <a:endParaRPr lang="ko-KR" altLang="en-US" sz="120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676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66E5AC3C-4136-4214-926C-FAF7E3932C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246770"/>
              </p:ext>
            </p:extLst>
          </p:nvPr>
        </p:nvGraphicFramePr>
        <p:xfrm>
          <a:off x="87177" y="166255"/>
          <a:ext cx="3420794" cy="54282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1772">
                  <a:extLst>
                    <a:ext uri="{9D8B030D-6E8A-4147-A177-3AD203B41FA5}">
                      <a16:colId xmlns:a16="http://schemas.microsoft.com/office/drawing/2014/main" val="3865918862"/>
                    </a:ext>
                  </a:extLst>
                </a:gridCol>
                <a:gridCol w="2489022">
                  <a:extLst>
                    <a:ext uri="{9D8B030D-6E8A-4147-A177-3AD203B41FA5}">
                      <a16:colId xmlns:a16="http://schemas.microsoft.com/office/drawing/2014/main" val="965352490"/>
                    </a:ext>
                  </a:extLst>
                </a:gridCol>
              </a:tblGrid>
              <a:tr h="15948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혹시</a:t>
                      </a:r>
                    </a:p>
                  </a:txBody>
                  <a:tcPr marL="27003" marR="27003" marT="13502" marB="13502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-(</a:t>
                      </a:r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으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)</a:t>
                      </a:r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면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어 주시기 바랍니다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          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어 주십시오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-(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십니까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-(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시겠습니까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어 주시겠습니까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           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27003" marR="27003" marT="13502" marB="13502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229313"/>
                  </a:ext>
                </a:extLst>
              </a:tr>
              <a:tr h="6785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꼭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반드시</a:t>
                      </a:r>
                    </a:p>
                  </a:txBody>
                  <a:tcPr marL="27003" marR="27003" marT="13502" marB="13502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어야 합니다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어 주십시오</a:t>
                      </a:r>
                    </a:p>
                  </a:txBody>
                  <a:tcPr marL="27003" marR="27003" marT="13502" marB="13502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401876"/>
                  </a:ext>
                </a:extLst>
              </a:tr>
              <a:tr h="6785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만약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만일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27003" marR="27003" marT="13502" marB="13502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-(</a:t>
                      </a:r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으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)</a:t>
                      </a:r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면  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어 주시기 바랍니다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           -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어 주십시오</a:t>
                      </a:r>
                      <a:endParaRPr lang="ko-KR" altLang="en-US" sz="1100" b="0" dirty="0">
                        <a:solidFill>
                          <a:srgbClr val="FF0000"/>
                        </a:solidFill>
                      </a:endParaRPr>
                    </a:p>
                  </a:txBody>
                  <a:tcPr marL="27003" marR="27003" marT="13502" marB="13502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310252"/>
                  </a:ext>
                </a:extLst>
              </a:tr>
              <a:tr h="6785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별로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좀처럼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</a:p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전혀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아직</a:t>
                      </a:r>
                    </a:p>
                  </a:txBody>
                  <a:tcPr marL="27003" marR="27003" marT="13502" marB="13502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부정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안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못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-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 않다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-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 못하다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없다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모르다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27003" marR="27003" marT="13502" marB="13502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167732"/>
                  </a:ext>
                </a:extLst>
              </a:tr>
              <a:tr h="3730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이미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벌써</a:t>
                      </a:r>
                    </a:p>
                  </a:txBody>
                  <a:tcPr marL="27003" marR="27003" marT="13502" marB="13502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과거</a:t>
                      </a:r>
                    </a:p>
                  </a:txBody>
                  <a:tcPr marL="27003" marR="27003" marT="13502" marB="13502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476390"/>
                  </a:ext>
                </a:extLst>
              </a:tr>
              <a:tr h="6785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얼마나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어떻게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</a:p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어느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언제</a:t>
                      </a:r>
                    </a:p>
                  </a:txBody>
                  <a:tcPr marL="27003" marR="27003" marT="13502" marB="13502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는지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/-(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ㄴ지</a:t>
                      </a:r>
                    </a:p>
                  </a:txBody>
                  <a:tcPr marL="27003" marR="27003" marT="13502" marB="13502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404763"/>
                  </a:ext>
                </a:extLst>
              </a:tr>
              <a:tr h="3730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아마</a:t>
                      </a:r>
                    </a:p>
                  </a:txBody>
                  <a:tcPr marL="27003" marR="27003" marT="13502" marB="13502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추측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-(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ㄹ 것이다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-(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ㄹ지도 모르다</a:t>
                      </a:r>
                    </a:p>
                  </a:txBody>
                  <a:tcPr marL="27003" marR="27003" marT="13502" marB="13502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840885"/>
                  </a:ext>
                </a:extLst>
              </a:tr>
              <a:tr h="3730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아무리</a:t>
                      </a:r>
                    </a:p>
                  </a:txBody>
                  <a:tcPr marL="27003" marR="27003" marT="13502" marB="13502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어도 안 되다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소용없다</a:t>
                      </a:r>
                    </a:p>
                  </a:txBody>
                  <a:tcPr marL="27003" marR="27003" marT="13502" marB="13502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5367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66428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175563" y="108065"/>
            <a:ext cx="3265906" cy="3184811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안녕하십니까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?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선생님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. </a:t>
            </a:r>
            <a:r>
              <a:rPr lang="ko-KR" altLang="en-US" sz="1200" kern="0" dirty="0" err="1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왕리입니다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이번 주 금요일 약속 때문에 연락 드렸습니다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그날 갑자기 일이 생겨서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(                      ).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정말 죄송합니다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혹시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(              )?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다음 주에는 약속 꼭 지키겠습니다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. 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답장 주시면 감사하겠습니다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+mn-ea"/>
              <a:cs typeface="함초롬바탕" panose="02030604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5842" y="3709614"/>
            <a:ext cx="3105347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㉠ 약속을 지킬 수 없을 것 같습니다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.</a:t>
            </a:r>
            <a:endParaRPr lang="ko-KR" altLang="en-US" sz="12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842" y="4284216"/>
            <a:ext cx="3105347" cy="46166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㉡ 다음 주로 약속을 미룰 수 있겠습니까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미뤄도 되겠습니까</a:t>
            </a:r>
            <a:endParaRPr lang="ko-KR" altLang="en-US" sz="1200" kern="0" dirty="0">
              <a:solidFill>
                <a:sysClr val="windowText" lastClr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44923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178264" y="108065"/>
            <a:ext cx="3237664" cy="3044395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오늘의 생활 상식</a:t>
            </a:r>
            <a:endParaRPr lang="en-US" altLang="ko-KR" sz="1200" kern="0" dirty="0">
              <a:solidFill>
                <a:srgbClr val="000000"/>
              </a:solidFill>
              <a:latin typeface="+mn-ea"/>
            </a:endParaRP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오늘의 생활 상식 하나 알려드리겠습니다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냄비가 많이 타면 아무리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(                          ).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깨끗하게 하고 싶으면 힘으로 닦으려고만 하지 말고 레몬을 이용하십시오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먼저 레몬을 얇게 썰어 물을 붓고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(                           ).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끓인 후에 닦으면 깨끗하게 닦입니다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.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264" y="3694451"/>
            <a:ext cx="3237664" cy="46166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㉠ 닦아도 깨끗해지지 않습니다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소용없습니다</a:t>
            </a:r>
            <a:endParaRPr lang="ko-KR" altLang="en-US" sz="12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1393" y="4383595"/>
            <a:ext cx="3237664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㉡ 끓입니다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끓이십시오</a:t>
            </a:r>
            <a:endParaRPr lang="ko-KR" altLang="en-US" sz="1200" kern="0" dirty="0">
              <a:solidFill>
                <a:sysClr val="windowText" lastClr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34024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209316" y="174568"/>
            <a:ext cx="3157339" cy="2892188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새 책 팝니다</a:t>
            </a:r>
            <a:endParaRPr lang="en-US" altLang="ko-KR" sz="1200" kern="0" dirty="0">
              <a:solidFill>
                <a:srgbClr val="000000"/>
              </a:solidFill>
              <a:latin typeface="+mn-ea"/>
            </a:endParaRP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한 달 전에 산 책인데 필요 없게 돼서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(                    ).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책을 사고 전혀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(                       ). 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원래 가격은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3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만 원인데 만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5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천원에 드릴 테니까 관심 있으신 분들은 아래 연락처로 연락 주시기 바랍니다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5688" y="3829413"/>
            <a:ext cx="3044591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㉠ 팔려고 합니다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.</a:t>
            </a:r>
            <a:endParaRPr lang="ko-KR" altLang="en-US" sz="12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65689" y="4434689"/>
            <a:ext cx="3044591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㉡ 사용하지 않았습니다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보지 않았습니다</a:t>
            </a:r>
            <a:endParaRPr lang="ko-KR" altLang="en-US" sz="1200" kern="0" dirty="0">
              <a:solidFill>
                <a:sysClr val="windowText" lastClr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10384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185555" y="191193"/>
            <a:ext cx="3179067" cy="3015275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안녕하십니까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?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다음 달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7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일에 이사하기로 한 사람입니다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그런데 일이 생겨서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(                               ).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혹시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14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일에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(                           )?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그날이 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괜찮은지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 연락주시면 감사하겠습니다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정말 죄송합니다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554" y="3806845"/>
            <a:ext cx="3179067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㉠ 이사할 수 없게 되었습니다</a:t>
            </a:r>
            <a:endParaRPr lang="ko-KR" altLang="en-US" sz="12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5555" y="4608687"/>
            <a:ext cx="3179067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㉡ 이사해도 되겠습니까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?</a:t>
            </a:r>
            <a:endParaRPr lang="ko-KR" altLang="en-US" sz="1200" kern="0" dirty="0">
              <a:solidFill>
                <a:sysClr val="windowText" lastClr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61417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185555" y="191193"/>
            <a:ext cx="3197969" cy="2953165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동화책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100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권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무료로 드립니다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!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우리 아이가 이제 중학생이 되었습니다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그래서 초등학교 때 읽었던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(                                ).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아이가 책을 아주 깨끗하게 봤습니다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다만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제가 너무 바빠서 책을 보내 드릴 수 없습니다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그러니까 원하시는 분은 저희 집으로 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(                           ).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오시기 전에 미리 연락 주십시오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5554" y="3710417"/>
            <a:ext cx="3197969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㉠ 책을 무료로 드리려고 합니다</a:t>
            </a:r>
            <a:endParaRPr lang="ko-KR" altLang="en-US" sz="12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5555" y="4477942"/>
            <a:ext cx="3197969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㉡ 가지러 </a:t>
            </a:r>
            <a:r>
              <a:rPr lang="ko-KR" altLang="en-US" sz="1200" kern="0" dirty="0" err="1">
                <a:solidFill>
                  <a:srgbClr val="000000"/>
                </a:solidFill>
                <a:latin typeface="+mn-ea"/>
              </a:rPr>
              <a:t>오셔야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 합니다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오시기 바랍니다 </a:t>
            </a:r>
            <a:endParaRPr lang="ko-KR" altLang="en-US" sz="1200" kern="0" dirty="0">
              <a:solidFill>
                <a:sysClr val="windowText" lastClr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81633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83128" y="216131"/>
            <a:ext cx="3394394" cy="3133441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algn="ctr"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중고 자전거 급구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!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중고 자전거를 급히 찾고 있습니다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성인 남자용과 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여자용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 각각 한 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대씩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 필요합니다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한 대도 좋지만 두 대를 파실 분이면 더 좋습니다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두 대가 없다면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(                                ).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자전거 사진을 찍어 아래 번호로 보내 주십시오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 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다만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너무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(                             ).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1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년 미만의 상태 좋은 자전거를 파실 분만 연락 주시기 바랍니다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7233" y="3827267"/>
            <a:ext cx="3305983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㉠ 한 대라도 괜찮습니다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좋습니다</a:t>
            </a:r>
            <a:endParaRPr lang="ko-KR" altLang="en-US" sz="12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7233" y="4432779"/>
            <a:ext cx="3305983" cy="46166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㉡ 상태가 안 좋은 자전거는 곤란합니다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사지 않겠습니다</a:t>
            </a:r>
            <a:endParaRPr lang="ko-KR" altLang="en-US" sz="1200" kern="0" dirty="0">
              <a:solidFill>
                <a:sysClr val="windowText" lastClr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83623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101844" y="191193"/>
            <a:ext cx="3381592" cy="3333403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algn="ctr"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언어 교환할 친구를 찾습니다</a:t>
            </a:r>
            <a:endParaRPr lang="en-US" altLang="ko-KR" sz="1200" kern="0" dirty="0">
              <a:solidFill>
                <a:srgbClr val="000000"/>
              </a:solidFill>
              <a:latin typeface="함초롬바탕" panose="02030604000101010101" pitchFamily="18" charset="-127"/>
              <a:ea typeface="맑은 고딕" panose="020B0503020000020004" pitchFamily="50" charset="-127"/>
            </a:endParaRP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저는 프랑스에서 온 교환 학생입니다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대학교에서 한국어를 배우고 있지만 수업이 끝난 후에도 개인적으로 한국어를 배우고 싶습니다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혹시 저에게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(                      )?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대신 저는 프랑스어를 가르쳐 드리겠습니다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저는 주말만 아니면 언제든지 시간을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(                          ).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원하시는 요일을 정해 이틀만 시간을 내 주시면 됩니다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그럼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연락 기다리겠습니다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44" y="3896729"/>
            <a:ext cx="3381592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㉠ 한국어를 가르쳐 주실 수 있으십니까</a:t>
            </a:r>
            <a:endParaRPr lang="ko-KR" altLang="en-US" sz="12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1844" y="4366277"/>
            <a:ext cx="3381592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㉡ 낼 수 있습니다</a:t>
            </a:r>
            <a:endParaRPr lang="ko-KR" altLang="en-US" sz="1200" kern="0" dirty="0">
              <a:solidFill>
                <a:sysClr val="windowText" lastClr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37921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104029" y="133005"/>
            <a:ext cx="3392393" cy="4114800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받는 사람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: 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박미진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 교수님</a:t>
            </a:r>
            <a:endParaRPr lang="en-US" altLang="ko-KR" sz="1200" kern="0" dirty="0">
              <a:solidFill>
                <a:srgbClr val="000000"/>
              </a:solidFill>
              <a:latin typeface="함초롬바탕" panose="02030604000101010101" pitchFamily="18" charset="-127"/>
              <a:ea typeface="맑은 고딕" panose="020B0503020000020004" pitchFamily="50" charset="-127"/>
            </a:endParaRP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제목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: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교수님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, 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왕단입니다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박미진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 교수님께</a:t>
            </a:r>
            <a:endParaRPr lang="en-US" altLang="ko-KR" sz="1200" kern="0" dirty="0">
              <a:solidFill>
                <a:srgbClr val="000000"/>
              </a:solidFill>
              <a:latin typeface="함초롬바탕" panose="02030604000101010101" pitchFamily="18" charset="-127"/>
              <a:ea typeface="맑은 고딕" panose="020B0503020000020004" pitchFamily="50" charset="-127"/>
            </a:endParaRP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안녕하십니까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?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교수님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지난번에 제가 쓸 보고서 주제를 발표했을 때 교수님께서 제게 그 주제가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(            ). 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교수님 말씀대로 자료를 구하기가 너무 어렵습니다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그래서 주제를 바꾸고 싶은데 지금 주제를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(                          )?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시간은 부족하지만 허락해 주시면 열심히 준비해 보겠습니다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감사합니다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                                                                            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왕단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 올림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2349" y="4461314"/>
            <a:ext cx="3354073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㉠ 어려울 것 같다고 하셨습니다</a:t>
            </a:r>
            <a:endParaRPr lang="ko-KR" altLang="en-US" sz="12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2349" y="4952828"/>
            <a:ext cx="3354073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㉡ 바꿔도 되겠습니까</a:t>
            </a:r>
            <a:endParaRPr lang="ko-KR" altLang="en-US" sz="1200" kern="0" dirty="0">
              <a:solidFill>
                <a:sysClr val="windowText" lastClr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98113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171538" y="116379"/>
            <a:ext cx="3257377" cy="3221204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algn="ctr"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체육대회 일정 변경 안내</a:t>
            </a:r>
            <a:endParaRPr lang="en-US" altLang="ko-KR" sz="1200" kern="0" dirty="0">
              <a:solidFill>
                <a:srgbClr val="000000"/>
              </a:solidFill>
              <a:latin typeface="함초롬바탕" panose="02030604000101010101" pitchFamily="18" charset="-127"/>
              <a:ea typeface="맑은 고딕" panose="020B0503020000020004" pitchFamily="50" charset="-127"/>
            </a:endParaRP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회원 여러분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,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 안녕하십니까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?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다음 주로 예정된 체육대회 일정을 변경하려고 합니다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일기예보에 의하면 그날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(                     ).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비 때문에 야외 행사는 모두 취소하기로 했습니다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하지만 실내 행사는 예정대로 열릴 예정입니다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그러니까 그날 실내 행사에 꼭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(                      ).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그럼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그날 뵙겠습니다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감사합니다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1536" y="4025248"/>
            <a:ext cx="3257377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㉠ 비가 온다고 합니다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올 거라고 합니다</a:t>
            </a:r>
            <a:endParaRPr lang="ko-KR" altLang="en-US" sz="12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1535" y="4626429"/>
            <a:ext cx="3257377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㉡ 참석해 주시기 바랍니다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참석 바랍니다</a:t>
            </a:r>
            <a:endParaRPr lang="ko-KR" altLang="en-US" sz="1200" kern="0" dirty="0">
              <a:solidFill>
                <a:sysClr val="windowText" lastClr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99577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0" y="1880129"/>
            <a:ext cx="54598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6" name="_x83975344"/>
          <p:cNvSpPr>
            <a:spLocks noChangeArrowheads="1"/>
          </p:cNvSpPr>
          <p:nvPr/>
        </p:nvSpPr>
        <p:spPr bwMode="auto">
          <a:xfrm>
            <a:off x="164592" y="141317"/>
            <a:ext cx="3276877" cy="2747492"/>
          </a:xfrm>
          <a:prstGeom prst="rect">
            <a:avLst/>
          </a:prstGeom>
          <a:noFill/>
          <a:ln w="3556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defTabSz="270041" fontAlgn="base">
              <a:lnSpc>
                <a:spcPct val="150000"/>
              </a:lnSpc>
              <a:defRPr/>
            </a:pPr>
            <a:r>
              <a:rPr lang="ko-KR" altLang="en-US" sz="1200" dirty="0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미영 씨</a:t>
            </a:r>
            <a:r>
              <a:rPr lang="en-US" altLang="ko-KR" sz="1200" dirty="0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급한 일 때문에 나가야 해서 메모 남겨요</a:t>
            </a:r>
            <a:r>
              <a:rPr lang="en-US" altLang="ko-KR" sz="1200" dirty="0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. </a:t>
            </a:r>
          </a:p>
          <a:p>
            <a:pPr defTabSz="270041" fontAlgn="base">
              <a:lnSpc>
                <a:spcPct val="150000"/>
              </a:lnSpc>
              <a:defRPr/>
            </a:pPr>
            <a:r>
              <a:rPr lang="ko-KR" altLang="en-US" sz="1200" dirty="0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미영 씨가 조금 전에 잠깐 자리를 비웠을 때 상우 씨에게 전화가 왔어요</a:t>
            </a:r>
            <a:r>
              <a:rPr lang="en-US" altLang="ko-KR" sz="1200" dirty="0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. </a:t>
            </a:r>
          </a:p>
          <a:p>
            <a:pPr defTabSz="270041" fontAlgn="base">
              <a:lnSpc>
                <a:spcPct val="150000"/>
              </a:lnSpc>
              <a:defRPr/>
            </a:pPr>
            <a:r>
              <a:rPr lang="ko-KR" altLang="en-US" sz="1200" dirty="0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오늘 모임 장소가 학교 식당에서 기숙사 휴게실로 </a:t>
            </a:r>
            <a:r>
              <a:rPr lang="en-US" altLang="ko-KR" sz="1200" dirty="0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(                        ). </a:t>
            </a:r>
          </a:p>
          <a:p>
            <a:pPr defTabSz="270041" fontAlgn="base">
              <a:lnSpc>
                <a:spcPct val="150000"/>
              </a:lnSpc>
              <a:defRPr/>
            </a:pPr>
            <a:r>
              <a:rPr lang="ko-KR" altLang="en-US" sz="1200" dirty="0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메모 보는 대로 상우 씨가 </a:t>
            </a:r>
            <a:r>
              <a:rPr lang="en-US" altLang="ko-KR" sz="1200" dirty="0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(                          ). </a:t>
            </a:r>
          </a:p>
          <a:p>
            <a:pPr defTabSz="270041" fontAlgn="base">
              <a:lnSpc>
                <a:spcPct val="150000"/>
              </a:lnSpc>
              <a:defRPr/>
            </a:pPr>
            <a:r>
              <a:rPr lang="ko-KR" altLang="en-US" sz="1200" dirty="0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기다린다고 했으니까 상우 씨에게 꼭 전화하세요</a:t>
            </a:r>
            <a:r>
              <a:rPr lang="en-US" altLang="ko-KR" sz="1200" dirty="0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ysClr val="windowText" lastClr="000000"/>
              </a:solidFill>
              <a:latin typeface="+mn-ea"/>
              <a:cs typeface="함초롬바탕" panose="02030604000101010101" pitchFamily="18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20725" y="3358342"/>
            <a:ext cx="2958997" cy="6272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 latinLnBrk="0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㉠ </a:t>
            </a:r>
            <a:r>
              <a:rPr lang="ko-KR" altLang="en-US" sz="1200" kern="0" dirty="0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바뀌었다고 전해 달래요</a:t>
            </a:r>
            <a:r>
              <a:rPr lang="en-US" altLang="ko-KR" sz="1200" kern="0" dirty="0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바뀌었다고 해요</a:t>
            </a:r>
            <a:r>
              <a:rPr lang="en-US" altLang="ko-KR" sz="1200" kern="0" dirty="0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/</a:t>
            </a:r>
            <a:r>
              <a:rPr lang="ko-KR" altLang="en-US" sz="1200" kern="0" dirty="0" err="1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바뀌었대요</a:t>
            </a:r>
            <a:endParaRPr lang="ko-KR" altLang="en-US" sz="1200" kern="0" dirty="0">
              <a:solidFill>
                <a:prstClr val="black"/>
              </a:solidFill>
              <a:latin typeface="+mn-ea"/>
              <a:cs typeface="함초롬바탕" panose="02030604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20726" y="4518354"/>
            <a:ext cx="2958997" cy="6272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 latinLnBrk="0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㉡</a:t>
            </a:r>
            <a:r>
              <a:rPr lang="en-US" altLang="ko-KR" sz="1200" kern="0" dirty="0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 </a:t>
            </a:r>
            <a:r>
              <a:rPr lang="ko-KR" altLang="en-US" sz="1200" kern="0" dirty="0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연락해 달라고 말했어요</a:t>
            </a:r>
            <a:r>
              <a:rPr lang="en-US" altLang="ko-KR" sz="1200" kern="0" dirty="0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전화해 달래요</a:t>
            </a:r>
          </a:p>
        </p:txBody>
      </p:sp>
    </p:spTree>
    <p:extLst>
      <p:ext uri="{BB962C8B-B14F-4D97-AF65-F5344CB8AC3E}">
        <p14:creationId xmlns:p14="http://schemas.microsoft.com/office/powerpoint/2010/main" val="3256852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</a:endParaRPr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157941" y="133004"/>
            <a:ext cx="3283527" cy="3352875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가격 인상 안내</a:t>
            </a:r>
            <a:endParaRPr lang="en-US" altLang="ko-KR" sz="1200" kern="0" dirty="0">
              <a:solidFill>
                <a:srgbClr val="000000"/>
              </a:solidFill>
              <a:latin typeface="+mn-ea"/>
            </a:endParaRPr>
          </a:p>
          <a:p>
            <a:pPr fontAlgn="base" latinLnBrk="0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그동안 저희 카페에서는 신선하고 맛있는 케이크를 다른 카페보다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(                 ).</a:t>
            </a:r>
          </a:p>
          <a:p>
            <a:pPr fontAlgn="base" latinLnBrk="0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그런데 더 이상 싼 가격을 유지하기가 어려워졌습니다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.</a:t>
            </a:r>
          </a:p>
          <a:p>
            <a:pPr fontAlgn="base" latinLnBrk="0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재료비가 올라서 다음 달부터 케이크 가격을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(                      ).</a:t>
            </a:r>
          </a:p>
          <a:p>
            <a:pPr fontAlgn="base" latinLnBrk="0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가격 인상에 대한 여러분의 이해와 양해를 부탁드립니다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.</a:t>
            </a:r>
          </a:p>
          <a:p>
            <a:pPr fontAlgn="base" latinLnBrk="0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앞으로도 좋은 품질과 서비스로 보답하겠습니다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4594" y="3639708"/>
            <a:ext cx="3283527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㉠ 싼 가격에 판매했습니다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싸게 드렸습니다</a:t>
            </a:r>
            <a:endParaRPr lang="ko-KR" altLang="en-US" sz="12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4594" y="4066926"/>
            <a:ext cx="3283527" cy="46166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㉡ 인상하게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(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올리게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)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 되었습니다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인상하기로 했습니다</a:t>
            </a:r>
            <a:endParaRPr lang="ko-KR" altLang="en-US" sz="12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9290A3-A27C-4FEC-BEE5-4424D0E98BB1}"/>
              </a:ext>
            </a:extLst>
          </p:cNvPr>
          <p:cNvSpPr txBox="1"/>
          <p:nvPr/>
        </p:nvSpPr>
        <p:spPr>
          <a:xfrm>
            <a:off x="154594" y="4716651"/>
            <a:ext cx="3283527" cy="8309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가격</a:t>
            </a:r>
            <a:r>
              <a:rPr lang="ko-KR" altLang="en-US" sz="1200" dirty="0">
                <a:solidFill>
                  <a:srgbClr val="FF0000"/>
                </a:solidFill>
              </a:rPr>
              <a:t>을</a:t>
            </a:r>
            <a:r>
              <a:rPr lang="ko-KR" altLang="en-US" sz="1200" dirty="0"/>
              <a:t> 인상하다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↔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인하하다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올리다</a:t>
            </a:r>
            <a:r>
              <a:rPr lang="en-US" altLang="ko-KR" sz="1200" dirty="0">
                <a:latin typeface="맑은 고딕" panose="020B0503020000020004" pitchFamily="50" charset="-127"/>
              </a:rPr>
              <a:t> ↔ </a:t>
            </a:r>
            <a:r>
              <a:rPr lang="ko-KR" altLang="en-US" sz="1200" dirty="0">
                <a:latin typeface="맑은 고딕" panose="020B0503020000020004" pitchFamily="50" charset="-127"/>
              </a:rPr>
              <a:t>내리다</a:t>
            </a:r>
            <a:endParaRPr lang="en-US" altLang="ko-KR" sz="1200" dirty="0">
              <a:latin typeface="맑은 고딕" panose="020B0503020000020004" pitchFamily="50" charset="-127"/>
            </a:endParaRPr>
          </a:p>
          <a:p>
            <a:pPr algn="ctr"/>
            <a:r>
              <a:rPr lang="ko-KR" altLang="en-US" sz="1200" dirty="0">
                <a:latin typeface="맑은 고딕" panose="020B0503020000020004" pitchFamily="50" charset="-127"/>
              </a:rPr>
              <a:t>가격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</a:rPr>
              <a:t>이</a:t>
            </a:r>
            <a:r>
              <a:rPr lang="ko-KR" altLang="en-US" sz="1200" dirty="0">
                <a:latin typeface="맑은 고딕" panose="020B0503020000020004" pitchFamily="50" charset="-127"/>
              </a:rPr>
              <a:t> 인상</a:t>
            </a:r>
            <a:r>
              <a:rPr lang="en-US" altLang="ko-KR" sz="1200" dirty="0">
                <a:latin typeface="맑은 고딕" panose="020B0503020000020004" pitchFamily="50" charset="-127"/>
              </a:rPr>
              <a:t> </a:t>
            </a:r>
            <a:r>
              <a:rPr lang="ko-KR" altLang="en-US" sz="1200" dirty="0">
                <a:latin typeface="맑은 고딕" panose="020B0503020000020004" pitchFamily="50" charset="-127"/>
              </a:rPr>
              <a:t>되다</a:t>
            </a:r>
            <a:r>
              <a:rPr lang="en-US" altLang="ko-KR" sz="1200" dirty="0">
                <a:latin typeface="맑은 고딕" panose="020B0503020000020004" pitchFamily="50" charset="-127"/>
              </a:rPr>
              <a:t>↔</a:t>
            </a:r>
            <a:r>
              <a:rPr lang="ko-KR" altLang="en-US" sz="1200" dirty="0">
                <a:latin typeface="맑은 고딕" panose="020B0503020000020004" pitchFamily="50" charset="-127"/>
              </a:rPr>
              <a:t>인하 되다</a:t>
            </a:r>
            <a:endParaRPr lang="en-US" altLang="ko-KR" sz="1200" dirty="0">
              <a:latin typeface="맑은 고딕" panose="020B0503020000020004" pitchFamily="50" charset="-127"/>
            </a:endParaRPr>
          </a:p>
          <a:p>
            <a:pPr algn="ctr"/>
            <a:r>
              <a:rPr lang="ko-KR" altLang="en-US" sz="1200" dirty="0"/>
              <a:t>          오르다</a:t>
            </a:r>
            <a:r>
              <a:rPr lang="en-US" altLang="ko-KR" sz="1200" dirty="0">
                <a:latin typeface="맑은 고딕" panose="020B0503020000020004" pitchFamily="50" charset="-127"/>
              </a:rPr>
              <a:t> ↔ </a:t>
            </a:r>
            <a:r>
              <a:rPr lang="ko-KR" altLang="en-US" sz="1200" dirty="0">
                <a:latin typeface="맑은 고딕" panose="020B0503020000020004" pitchFamily="50" charset="-127"/>
              </a:rPr>
              <a:t>내리다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3029627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1880129"/>
            <a:ext cx="54598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49093" y="2879725"/>
            <a:ext cx="3050626" cy="29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 latinLnBrk="0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㉠ </a:t>
            </a:r>
            <a:r>
              <a:rPr lang="ko-KR" altLang="en-US" sz="1200" kern="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먼저 출발하게 되었어요</a:t>
            </a:r>
            <a:r>
              <a:rPr lang="en-US" altLang="ko-KR" sz="1200" kern="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먼저 나가요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49093" y="3405497"/>
            <a:ext cx="3050626" cy="29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 latinLnBrk="0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㉡ </a:t>
            </a:r>
            <a:r>
              <a:rPr lang="ko-KR" altLang="en-US" sz="1200" kern="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보는 대로 문자 주세요</a:t>
            </a:r>
            <a:r>
              <a:rPr lang="en-US" altLang="ko-KR" sz="1200" kern="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 </a:t>
            </a:r>
            <a:endParaRPr lang="ko-KR" altLang="en-US" sz="1200" kern="0" dirty="0">
              <a:solidFill>
                <a:schemeClr val="tx1"/>
              </a:solidFill>
              <a:latin typeface="+mn-ea"/>
              <a:cs typeface="함초롬바탕" panose="02030604000101010101" pitchFamily="18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49154" y="109349"/>
            <a:ext cx="3450504" cy="254960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영수 씨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회의 중이라서 메모 남겨요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+mn-ea"/>
            </a:endParaRPr>
          </a:p>
          <a:p>
            <a:pPr algn="just" fontAlgn="base">
              <a:lnSpc>
                <a:spcPct val="15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이따가 사장님 마중 같이 가기로 했는데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(                         ).</a:t>
            </a:r>
            <a:endParaRPr lang="ko-KR" altLang="en-US" sz="1200" kern="0" dirty="0">
              <a:solidFill>
                <a:srgbClr val="000000"/>
              </a:solidFill>
              <a:latin typeface="+mn-ea"/>
            </a:endParaRPr>
          </a:p>
          <a:p>
            <a:pPr algn="just" fontAlgn="base">
              <a:lnSpc>
                <a:spcPct val="15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사장님께서 예정보다 일찍 오신다고 해서요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.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제가 먼저 가서 </a:t>
            </a:r>
            <a:r>
              <a:rPr lang="ko-KR" altLang="en-US" sz="1200" kern="0" dirty="0" err="1">
                <a:solidFill>
                  <a:srgbClr val="000000"/>
                </a:solidFill>
                <a:latin typeface="+mn-ea"/>
              </a:rPr>
              <a:t>기다릴게요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+mn-ea"/>
            </a:endParaRPr>
          </a:p>
          <a:p>
            <a:pPr algn="just" fontAlgn="base">
              <a:lnSpc>
                <a:spcPct val="15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전할 말이 있으니까 이 메모를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(                           ). </a:t>
            </a:r>
            <a:endParaRPr lang="ko-KR" altLang="en-US" sz="1200" kern="0" dirty="0">
              <a:solidFill>
                <a:srgbClr val="000000"/>
              </a:solidFill>
              <a:latin typeface="+mn-ea"/>
            </a:endParaRPr>
          </a:p>
          <a:p>
            <a:pPr algn="just" fontAlgn="base">
              <a:lnSpc>
                <a:spcPct val="15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전화는 받기 힘들 것 </a:t>
            </a:r>
            <a:r>
              <a:rPr lang="ko-KR" altLang="en-US" sz="1200" kern="0" dirty="0" err="1">
                <a:solidFill>
                  <a:srgbClr val="000000"/>
                </a:solidFill>
                <a:latin typeface="+mn-ea"/>
              </a:rPr>
              <a:t>같아서요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.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그리고 급하니까 회의 </a:t>
            </a:r>
            <a:r>
              <a:rPr lang="ko-KR" altLang="en-US" sz="1200" kern="0" dirty="0" err="1">
                <a:solidFill>
                  <a:srgbClr val="000000"/>
                </a:solidFill>
                <a:latin typeface="+mn-ea"/>
              </a:rPr>
              <a:t>끝나자마자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 연락 주세요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. </a:t>
            </a:r>
            <a:endParaRPr lang="ko-KR" altLang="en-US" sz="12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BF8685-0E7B-423F-BDA9-DC9043C3CCC3}"/>
              </a:ext>
            </a:extLst>
          </p:cNvPr>
          <p:cNvSpPr txBox="1"/>
          <p:nvPr/>
        </p:nvSpPr>
        <p:spPr>
          <a:xfrm>
            <a:off x="249093" y="4307283"/>
            <a:ext cx="305062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N</a:t>
            </a:r>
            <a:r>
              <a:rPr lang="ko-KR" altLang="en-US" sz="1200" dirty="0"/>
              <a:t>을</a:t>
            </a:r>
            <a:r>
              <a:rPr lang="en-US" altLang="ko-KR" sz="1200" dirty="0"/>
              <a:t>/</a:t>
            </a:r>
            <a:r>
              <a:rPr lang="ko-KR" altLang="en-US" sz="1200" dirty="0"/>
              <a:t>를 마중하다</a:t>
            </a:r>
            <a:r>
              <a:rPr lang="en-US" altLang="ko-KR" sz="1200" dirty="0"/>
              <a:t>/</a:t>
            </a:r>
            <a:r>
              <a:rPr lang="ko-KR" altLang="en-US" sz="1200" dirty="0"/>
              <a:t>마중 </a:t>
            </a:r>
            <a:r>
              <a:rPr lang="en-US" altLang="ko-KR" sz="1200" dirty="0"/>
              <a:t>(</a:t>
            </a:r>
            <a:r>
              <a:rPr lang="ko-KR" altLang="en-US" sz="1200" dirty="0"/>
              <a:t>나</a:t>
            </a:r>
            <a:r>
              <a:rPr lang="en-US" altLang="ko-KR" sz="1200" dirty="0"/>
              <a:t>)</a:t>
            </a:r>
            <a:r>
              <a:rPr lang="ko-KR" altLang="en-US" sz="1200" dirty="0"/>
              <a:t>가다</a:t>
            </a:r>
            <a:endParaRPr lang="en-US" altLang="ko-KR" sz="1200" dirty="0"/>
          </a:p>
          <a:p>
            <a:pPr algn="ctr"/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↔ </a:t>
            </a:r>
            <a:r>
              <a:rPr lang="ko-KR" altLang="en-US" sz="1200" dirty="0"/>
              <a:t>배웅하다</a:t>
            </a:r>
            <a:r>
              <a:rPr lang="en-US" altLang="ko-KR" sz="1200" dirty="0"/>
              <a:t>/</a:t>
            </a:r>
            <a:r>
              <a:rPr lang="ko-KR" altLang="en-US" sz="1200" dirty="0"/>
              <a:t>배웅 </a:t>
            </a:r>
            <a:r>
              <a:rPr lang="en-US" altLang="ko-KR" sz="1200" dirty="0"/>
              <a:t>(</a:t>
            </a:r>
            <a:r>
              <a:rPr lang="ko-KR" altLang="en-US" sz="1200" dirty="0"/>
              <a:t>나</a:t>
            </a:r>
            <a:r>
              <a:rPr lang="en-US" altLang="ko-KR" sz="1200" dirty="0"/>
              <a:t>)</a:t>
            </a:r>
            <a:r>
              <a:rPr lang="ko-KR" altLang="en-US" sz="1200" dirty="0"/>
              <a:t>가다</a:t>
            </a:r>
          </a:p>
        </p:txBody>
      </p:sp>
    </p:spTree>
    <p:extLst>
      <p:ext uri="{BB962C8B-B14F-4D97-AF65-F5344CB8AC3E}">
        <p14:creationId xmlns:p14="http://schemas.microsoft.com/office/powerpoint/2010/main" val="295755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46239" y="102312"/>
            <a:ext cx="3461731" cy="3327962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교수님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안녕하십니까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?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지난해에 졸업한 김민수라고 합니다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입사 원서를 내려고 하는데 회사에 문의를 해 보니 지원하려면 교수님의 추천서가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(                               ).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바쁘시겠지만 교수님께 추천서를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(                               )?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자주 연락도 못 드렸는데 갑자기 이런 부탁을 드려 죄송합니다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항상 건강하시길 바랍니다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.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감사합니다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김민수 올림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1227" y="3600741"/>
            <a:ext cx="3077996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㉠ 필요하다고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있어야 한다고 합니다</a:t>
            </a:r>
            <a:endParaRPr lang="ko-KR" altLang="en-US" sz="12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61227" y="4112776"/>
            <a:ext cx="3077996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㉡ 부탁드려도 되겠습니까</a:t>
            </a:r>
            <a:endParaRPr lang="ko-KR" altLang="en-US" sz="12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4583AA-F2B9-4B95-A514-93C0C605DA9C}"/>
              </a:ext>
            </a:extLst>
          </p:cNvPr>
          <p:cNvSpPr txBox="1"/>
          <p:nvPr/>
        </p:nvSpPr>
        <p:spPr>
          <a:xfrm>
            <a:off x="261227" y="4624811"/>
            <a:ext cx="3077996" cy="8309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u="sng" dirty="0"/>
              <a:t>N</a:t>
            </a:r>
            <a:r>
              <a:rPr lang="ko-KR" altLang="en-US" sz="1200" dirty="0"/>
              <a:t>에 지원하다</a:t>
            </a:r>
            <a:endParaRPr lang="en-US" altLang="ko-KR" sz="1200" dirty="0"/>
          </a:p>
          <a:p>
            <a:pPr algn="ctr"/>
            <a:r>
              <a:rPr lang="ko-KR" altLang="en-US" sz="1200" dirty="0"/>
              <a:t>학교</a:t>
            </a:r>
            <a:r>
              <a:rPr lang="en-US" altLang="ko-KR" sz="1200" dirty="0"/>
              <a:t>/</a:t>
            </a:r>
            <a:r>
              <a:rPr lang="ko-KR" altLang="en-US" sz="1200" dirty="0"/>
              <a:t>회사</a:t>
            </a:r>
            <a:r>
              <a:rPr lang="en-US" altLang="ko-KR" sz="1200" dirty="0"/>
              <a:t>/</a:t>
            </a:r>
            <a:r>
              <a:rPr lang="ko-KR" altLang="en-US" sz="1200" dirty="0"/>
              <a:t>군대</a:t>
            </a:r>
            <a:r>
              <a:rPr lang="en-US" altLang="ko-KR" sz="1200" dirty="0"/>
              <a:t>/</a:t>
            </a:r>
            <a:r>
              <a:rPr lang="ko-KR" altLang="en-US" sz="1200" dirty="0"/>
              <a:t>봉사 활동</a:t>
            </a:r>
            <a:endParaRPr lang="en-US" altLang="ko-KR" sz="1200" dirty="0"/>
          </a:p>
          <a:p>
            <a:pPr algn="ctr"/>
            <a:r>
              <a:rPr lang="en-US" altLang="ko-KR" sz="1200" u="sng" dirty="0"/>
              <a:t>N</a:t>
            </a:r>
            <a:r>
              <a:rPr lang="ko-KR" altLang="en-US" sz="1200" dirty="0"/>
              <a:t>에 신청하다</a:t>
            </a:r>
            <a:endParaRPr lang="en-US" altLang="ko-KR" sz="1200" dirty="0"/>
          </a:p>
          <a:p>
            <a:pPr algn="ctr"/>
            <a:r>
              <a:rPr lang="ko-KR" altLang="en-US" sz="1200" dirty="0"/>
              <a:t>행사</a:t>
            </a:r>
            <a:r>
              <a:rPr lang="en-US" altLang="ko-KR" sz="1200" dirty="0"/>
              <a:t>/</a:t>
            </a:r>
            <a:r>
              <a:rPr lang="ko-KR" altLang="en-US" sz="1200" dirty="0"/>
              <a:t>대회</a:t>
            </a:r>
            <a:r>
              <a:rPr lang="en-US" altLang="ko-KR" sz="1200" dirty="0"/>
              <a:t>/</a:t>
            </a:r>
            <a:r>
              <a:rPr lang="ko-KR" altLang="en-US" sz="1200" dirty="0"/>
              <a:t>봉사 활동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597919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97160" y="74815"/>
            <a:ext cx="3402498" cy="3045834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1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방 구할 때 주의하세요</a:t>
            </a:r>
            <a:r>
              <a:rPr lang="en-US" altLang="ko-KR" sz="11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!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1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안녕하세요</a:t>
            </a:r>
            <a:r>
              <a:rPr lang="en-US" altLang="ko-KR" sz="11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? </a:t>
            </a:r>
            <a:r>
              <a:rPr lang="ko-KR" altLang="en-US" sz="11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유학생 여러분</a:t>
            </a:r>
            <a:endParaRPr lang="en-US" altLang="ko-KR" sz="1100" kern="0" dirty="0">
              <a:solidFill>
                <a:srgbClr val="000000"/>
              </a:solidFill>
              <a:latin typeface="+mn-ea"/>
              <a:cs typeface="함초롬바탕" panose="02030604000101010101" pitchFamily="18" charset="-127"/>
            </a:endParaRP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1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다음 내용을 꼭 확인하시고 방을 구하시기 바랍니다</a:t>
            </a:r>
            <a:r>
              <a:rPr lang="en-US" altLang="ko-KR" sz="11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1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방을 구할 때는 수도 요금이 방세에 </a:t>
            </a:r>
            <a:r>
              <a:rPr lang="en-US" altLang="ko-KR" sz="11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(                           ).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1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당연히 포함되어 있는 줄 알고 있다가 문제가 생기는 경우도 있습니다</a:t>
            </a:r>
            <a:r>
              <a:rPr lang="en-US" altLang="ko-KR" sz="11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1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또</a:t>
            </a:r>
            <a:r>
              <a:rPr lang="en-US" altLang="ko-KR" sz="11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, </a:t>
            </a:r>
            <a:r>
              <a:rPr lang="ko-KR" altLang="en-US" sz="11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고장 난 곳이 있으면 방주인에게 </a:t>
            </a:r>
            <a:r>
              <a:rPr lang="en-US" altLang="ko-KR" sz="11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(                         ).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1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고쳐 준다고 하면 수리가 끝난 후에 이사하는 것이 좋습니다</a:t>
            </a:r>
            <a:r>
              <a:rPr lang="en-US" altLang="ko-KR" sz="11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58" y="3667556"/>
            <a:ext cx="3402497" cy="26161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㉠ 포함되어 있는지</a:t>
            </a:r>
            <a:r>
              <a:rPr lang="en-US" altLang="ko-KR" sz="1100" kern="0" dirty="0">
                <a:solidFill>
                  <a:srgbClr val="000000"/>
                </a:solidFill>
                <a:latin typeface="+mn-ea"/>
              </a:rPr>
              <a:t>/</a:t>
            </a:r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포함되는지 확인해야 합니다</a:t>
            </a:r>
            <a:endParaRPr lang="ko-KR" altLang="en-US" sz="11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7159" y="4259076"/>
            <a:ext cx="3402497" cy="430887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㉡ 고쳐 달라고 하십시오</a:t>
            </a:r>
            <a:r>
              <a:rPr lang="en-US" altLang="ko-KR" sz="1100" kern="0" dirty="0">
                <a:solidFill>
                  <a:srgbClr val="000000"/>
                </a:solidFill>
                <a:latin typeface="+mn-ea"/>
              </a:rPr>
              <a:t>/</a:t>
            </a:r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해야 합니다</a:t>
            </a:r>
            <a:r>
              <a:rPr lang="en-US" altLang="ko-KR" sz="1100" kern="0" dirty="0">
                <a:solidFill>
                  <a:srgbClr val="000000"/>
                </a:solidFill>
                <a:latin typeface="+mn-ea"/>
              </a:rPr>
              <a:t>/</a:t>
            </a:r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하는 것이 좋습니다</a:t>
            </a:r>
            <a:endParaRPr lang="ko-KR" altLang="en-US" sz="1100" kern="0" dirty="0">
              <a:solidFill>
                <a:sysClr val="windowText" lastClr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6796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83834" y="103471"/>
            <a:ext cx="3402301" cy="2776254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식당 게시판</a:t>
            </a:r>
            <a:endParaRPr lang="en-US" altLang="ko-KR" sz="1200" kern="0" dirty="0">
              <a:solidFill>
                <a:srgbClr val="000000"/>
              </a:solidFill>
              <a:latin typeface="+mn-ea"/>
              <a:cs typeface="함초롬바탕" panose="02030604000101010101" pitchFamily="18" charset="-127"/>
            </a:endParaRP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학생 식당을 자주 이용하는 학생입니다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학생 식당 음식이 맛있지만 제 입에는 좀 짠 것 같습니다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물어 보니 친구들도 음식이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(                         ).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맛도 중요하지만 건강을 위해서 조금 싱겁게 먹었으면 합니다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가능하면 소금을 조금 적게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(                       ).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감사합니다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+mn-ea"/>
              <a:cs typeface="함초롬바탕" panose="02030604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834" y="3227522"/>
            <a:ext cx="3402301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㉠ 좀 짜다고 합니다</a:t>
            </a:r>
            <a:endParaRPr lang="ko-KR" altLang="en-US" sz="12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33" y="3761107"/>
            <a:ext cx="3402301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㉡ 넣어 주십시오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넣으면 좋겠습니다</a:t>
            </a:r>
            <a:endParaRPr lang="ko-KR" altLang="en-US" sz="12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273B46-1355-4906-BA13-906A82E7FC39}"/>
              </a:ext>
            </a:extLst>
          </p:cNvPr>
          <p:cNvSpPr txBox="1"/>
          <p:nvPr/>
        </p:nvSpPr>
        <p:spPr>
          <a:xfrm>
            <a:off x="83832" y="4287424"/>
            <a:ext cx="3402301" cy="2769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입</a:t>
            </a:r>
            <a:r>
              <a:rPr lang="ko-KR" altLang="en-US" sz="1200" b="1" dirty="0">
                <a:solidFill>
                  <a:srgbClr val="FF0000"/>
                </a:solidFill>
              </a:rPr>
              <a:t>에</a:t>
            </a:r>
            <a:r>
              <a:rPr lang="ko-KR" altLang="en-US" sz="1200" dirty="0"/>
              <a:t>  맞다</a:t>
            </a:r>
            <a:r>
              <a:rPr lang="en-US" altLang="ko-KR" sz="1200" dirty="0"/>
              <a:t>/</a:t>
            </a:r>
            <a:r>
              <a:rPr lang="ko-KR" altLang="en-US" sz="1200" dirty="0"/>
              <a:t>짜다</a:t>
            </a:r>
            <a:r>
              <a:rPr lang="en-US" altLang="ko-KR" sz="1200" dirty="0"/>
              <a:t>/</a:t>
            </a:r>
            <a:r>
              <a:rPr lang="ko-KR" altLang="en-US" sz="1200" dirty="0"/>
              <a:t>싱겁다</a:t>
            </a:r>
            <a:r>
              <a:rPr lang="en-US" altLang="ko-KR" sz="1200" dirty="0"/>
              <a:t>/</a:t>
            </a:r>
            <a:r>
              <a:rPr lang="ko-KR" altLang="en-US" sz="1200" dirty="0"/>
              <a:t>맵다</a:t>
            </a:r>
            <a:r>
              <a:rPr lang="en-US" altLang="ko-KR" sz="1200" dirty="0"/>
              <a:t>..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834743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0" y="1880129"/>
            <a:ext cx="54598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6" name="_x83975344"/>
          <p:cNvSpPr>
            <a:spLocks noChangeArrowheads="1"/>
          </p:cNvSpPr>
          <p:nvPr/>
        </p:nvSpPr>
        <p:spPr bwMode="auto">
          <a:xfrm>
            <a:off x="119824" y="118218"/>
            <a:ext cx="3360802" cy="2474495"/>
          </a:xfrm>
          <a:prstGeom prst="rect">
            <a:avLst/>
          </a:prstGeom>
          <a:noFill/>
          <a:ln w="3556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defTabSz="270041" fontAlgn="base">
              <a:lnSpc>
                <a:spcPct val="150000"/>
              </a:lnSpc>
              <a:defRPr/>
            </a:pPr>
            <a:r>
              <a:rPr lang="ko-KR" altLang="en-US" sz="1200" dirty="0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미영 씨</a:t>
            </a:r>
            <a:r>
              <a:rPr lang="en-US" altLang="ko-KR" sz="1200" dirty="0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급한 일 때문에 나가야 해서 메모 남겨요</a:t>
            </a:r>
            <a:r>
              <a:rPr lang="en-US" altLang="ko-KR" sz="1200" dirty="0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. </a:t>
            </a:r>
          </a:p>
          <a:p>
            <a:pPr defTabSz="270041" fontAlgn="base">
              <a:lnSpc>
                <a:spcPct val="150000"/>
              </a:lnSpc>
              <a:defRPr/>
            </a:pPr>
            <a:r>
              <a:rPr lang="ko-KR" altLang="en-US" sz="1200" dirty="0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미영 씨가 조금 전에 잠깐 자리를 비웠을 때 상우 씨에게 전화가 왔어요</a:t>
            </a:r>
            <a:r>
              <a:rPr lang="en-US" altLang="ko-KR" sz="1200" dirty="0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. </a:t>
            </a:r>
          </a:p>
          <a:p>
            <a:pPr defTabSz="270041" fontAlgn="base">
              <a:lnSpc>
                <a:spcPct val="150000"/>
              </a:lnSpc>
              <a:defRPr/>
            </a:pPr>
            <a:r>
              <a:rPr lang="ko-KR" altLang="en-US" sz="1200" dirty="0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오늘 모임 장소가 학교 식당에서 기숙사 휴게실로 </a:t>
            </a:r>
            <a:r>
              <a:rPr lang="en-US" altLang="ko-KR" sz="1200" dirty="0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(                        ). </a:t>
            </a:r>
          </a:p>
          <a:p>
            <a:pPr defTabSz="270041" fontAlgn="base">
              <a:lnSpc>
                <a:spcPct val="150000"/>
              </a:lnSpc>
              <a:defRPr/>
            </a:pPr>
            <a:r>
              <a:rPr lang="ko-KR" altLang="en-US" sz="1200" dirty="0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메모 보는 대로 상우 씨가 </a:t>
            </a:r>
            <a:r>
              <a:rPr lang="en-US" altLang="ko-KR" sz="1200" dirty="0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(                          ). </a:t>
            </a:r>
          </a:p>
          <a:p>
            <a:pPr defTabSz="270041" fontAlgn="base">
              <a:lnSpc>
                <a:spcPct val="150000"/>
              </a:lnSpc>
              <a:defRPr/>
            </a:pPr>
            <a:r>
              <a:rPr lang="ko-KR" altLang="en-US" sz="1200" dirty="0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기다린다고 했으니까 상우 씨에게 꼭 전화하세요</a:t>
            </a:r>
            <a:r>
              <a:rPr lang="en-US" altLang="ko-KR" sz="1200" dirty="0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ysClr val="windowText" lastClr="000000"/>
              </a:solidFill>
              <a:latin typeface="+mn-ea"/>
              <a:cs typeface="함초롬바탕" panose="02030604000101010101" pitchFamily="18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19824" y="2964449"/>
            <a:ext cx="3360802" cy="4430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 latinLnBrk="0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㉠ </a:t>
            </a:r>
            <a:r>
              <a:rPr lang="ko-KR" altLang="en-US" sz="1200" kern="0" dirty="0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바뀌었다고 전해 달래요</a:t>
            </a:r>
            <a:r>
              <a:rPr lang="en-US" altLang="ko-KR" sz="1200" kern="0" dirty="0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바뀌었다고 해요</a:t>
            </a:r>
            <a:r>
              <a:rPr lang="en-US" altLang="ko-KR" sz="1200" kern="0" dirty="0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/</a:t>
            </a:r>
            <a:r>
              <a:rPr lang="ko-KR" altLang="en-US" sz="1200" kern="0" dirty="0" err="1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바뀌었대요</a:t>
            </a:r>
            <a:endParaRPr lang="ko-KR" altLang="en-US" sz="1200" kern="0" dirty="0">
              <a:solidFill>
                <a:prstClr val="black"/>
              </a:solidFill>
              <a:latin typeface="+mn-ea"/>
              <a:cs typeface="함초롬바탕" panose="02030604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19824" y="3630499"/>
            <a:ext cx="3360802" cy="3512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 latinLnBrk="0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㉡</a:t>
            </a:r>
            <a:r>
              <a:rPr lang="en-US" altLang="ko-KR" sz="1200" kern="0" dirty="0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 </a:t>
            </a:r>
            <a:r>
              <a:rPr lang="ko-KR" altLang="en-US" sz="1200" kern="0" dirty="0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연락해 달라고 말했어요</a:t>
            </a:r>
            <a:r>
              <a:rPr lang="en-US" altLang="ko-KR" sz="1200" kern="0" dirty="0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/</a:t>
            </a:r>
            <a:r>
              <a:rPr lang="ko-KR" altLang="en-US" sz="1200" kern="0" dirty="0">
                <a:solidFill>
                  <a:prstClr val="black"/>
                </a:solidFill>
                <a:latin typeface="+mn-ea"/>
                <a:cs typeface="함초롬바탕" panose="02030604000101010101" pitchFamily="18" charset="-127"/>
              </a:rPr>
              <a:t>전화해 달래요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51693F-E2AB-42E5-80E4-85F7E5CCAE53}"/>
              </a:ext>
            </a:extLst>
          </p:cNvPr>
          <p:cNvSpPr txBox="1"/>
          <p:nvPr/>
        </p:nvSpPr>
        <p:spPr>
          <a:xfrm>
            <a:off x="119823" y="4113268"/>
            <a:ext cx="3360801" cy="2769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자리를 비우다</a:t>
            </a:r>
            <a:r>
              <a:rPr lang="en-US" altLang="ko-KR" sz="1200" dirty="0"/>
              <a:t>=</a:t>
            </a:r>
            <a:r>
              <a:rPr lang="ko-KR" altLang="en-US" sz="1200" dirty="0"/>
              <a:t>나가다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422178-076D-4EF2-80AE-21F6893AA3D0}"/>
              </a:ext>
            </a:extLst>
          </p:cNvPr>
          <p:cNvSpPr txBox="1"/>
          <p:nvPr/>
        </p:nvSpPr>
        <p:spPr>
          <a:xfrm>
            <a:off x="119822" y="4521739"/>
            <a:ext cx="3360801" cy="8309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-</a:t>
            </a:r>
            <a:r>
              <a:rPr lang="ko-KR" altLang="en-US" sz="1200" dirty="0" err="1"/>
              <a:t>다고</a:t>
            </a:r>
            <a:r>
              <a:rPr lang="ko-KR" altLang="en-US" sz="1200" dirty="0"/>
              <a:t> 하다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→ -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대요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자고 하다 </a:t>
            </a:r>
            <a:r>
              <a:rPr lang="en-US" altLang="ko-KR" sz="1200" dirty="0">
                <a:latin typeface="맑은 고딕" panose="020B0503020000020004" pitchFamily="50" charset="-127"/>
              </a:rPr>
              <a:t>→ -</a:t>
            </a:r>
            <a:r>
              <a:rPr lang="ko-KR" altLang="en-US" sz="1200" dirty="0">
                <a:latin typeface="맑은 고딕" panose="020B0503020000020004" pitchFamily="50" charset="-127"/>
              </a:rPr>
              <a:t>재요</a:t>
            </a:r>
            <a:endParaRPr lang="en-US" altLang="ko-KR" sz="1200" dirty="0">
              <a:latin typeface="맑은 고딕" panose="020B0503020000020004" pitchFamily="50" charset="-127"/>
            </a:endParaRPr>
          </a:p>
          <a:p>
            <a:pPr algn="ctr"/>
            <a:r>
              <a:rPr lang="en-US" altLang="ko-KR" sz="1200" dirty="0">
                <a:latin typeface="맑은 고딕" panose="020B0503020000020004" pitchFamily="50" charset="-127"/>
              </a:rPr>
              <a:t>-</a:t>
            </a:r>
            <a:r>
              <a:rPr lang="ko-KR" altLang="en-US" sz="1200" dirty="0">
                <a:latin typeface="맑은 고딕" panose="020B0503020000020004" pitchFamily="50" charset="-127"/>
              </a:rPr>
              <a:t>라고 하다 </a:t>
            </a:r>
            <a:r>
              <a:rPr lang="en-US" altLang="ko-KR" sz="1200" dirty="0">
                <a:latin typeface="맑은 고딕" panose="020B0503020000020004" pitchFamily="50" charset="-127"/>
              </a:rPr>
              <a:t>→ -</a:t>
            </a:r>
            <a:r>
              <a:rPr lang="ko-KR" altLang="en-US" sz="1200" dirty="0">
                <a:latin typeface="맑은 고딕" panose="020B0503020000020004" pitchFamily="50" charset="-127"/>
              </a:rPr>
              <a:t>래요</a:t>
            </a:r>
            <a:endParaRPr lang="en-US" altLang="ko-KR" sz="1200" dirty="0">
              <a:latin typeface="맑은 고딕" panose="020B0503020000020004" pitchFamily="50" charset="-127"/>
            </a:endParaRPr>
          </a:p>
          <a:p>
            <a:pPr algn="ctr"/>
            <a:r>
              <a:rPr lang="en-US" altLang="ko-KR" sz="1200" dirty="0">
                <a:latin typeface="맑은 고딕" panose="020B0503020000020004" pitchFamily="50" charset="-127"/>
              </a:rPr>
              <a:t>-</a:t>
            </a:r>
            <a:r>
              <a:rPr lang="ko-KR" altLang="en-US" sz="1200" dirty="0" err="1">
                <a:latin typeface="맑은 고딕" panose="020B0503020000020004" pitchFamily="50" charset="-127"/>
              </a:rPr>
              <a:t>느냐고</a:t>
            </a:r>
            <a:r>
              <a:rPr lang="ko-KR" altLang="en-US" sz="1200" dirty="0">
                <a:latin typeface="맑은 고딕" panose="020B0503020000020004" pitchFamily="50" charset="-127"/>
              </a:rPr>
              <a:t> 하다 </a:t>
            </a:r>
            <a:r>
              <a:rPr lang="en-US" altLang="ko-KR" sz="1200" dirty="0">
                <a:latin typeface="맑은 고딕" panose="020B0503020000020004" pitchFamily="50" charset="-127"/>
              </a:rPr>
              <a:t>→ -</a:t>
            </a:r>
            <a:r>
              <a:rPr lang="ko-KR" altLang="en-US" sz="1200" dirty="0" err="1">
                <a:latin typeface="맑은 고딕" panose="020B0503020000020004" pitchFamily="50" charset="-127"/>
              </a:rPr>
              <a:t>느냬요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633355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7803" y="3902367"/>
            <a:ext cx="3424844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㉠ 놓고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두고 내렸습니다</a:t>
            </a:r>
            <a:endParaRPr lang="ko-KR" altLang="en-US" sz="12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7803" y="4311804"/>
            <a:ext cx="3424844" cy="46166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㉡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5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시 전에 오시기 바랍니다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/5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시 전까지 </a:t>
            </a:r>
            <a:r>
              <a:rPr lang="ko-KR" altLang="en-US" sz="1200" kern="0" dirty="0" err="1">
                <a:solidFill>
                  <a:srgbClr val="000000"/>
                </a:solidFill>
                <a:latin typeface="+mn-ea"/>
              </a:rPr>
              <a:t>오셔야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 합니다</a:t>
            </a:r>
            <a:endParaRPr lang="ko-KR" altLang="en-US" sz="12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0" name="_x238191552">
            <a:extLst>
              <a:ext uri="{FF2B5EF4-FFF2-40B4-BE49-F238E27FC236}">
                <a16:creationId xmlns:a16="http://schemas.microsoft.com/office/drawing/2014/main" id="{1AE6F07B-70E6-47FE-BA9A-84CC679AC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03" y="133003"/>
            <a:ext cx="3424844" cy="3646411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fontAlgn="base" latinLnBrk="0">
              <a:lnSpc>
                <a:spcPct val="160000"/>
              </a:lnSpc>
            </a:pPr>
            <a:r>
              <a:rPr lang="ko-KR" altLang="en-US" sz="1200" b="1" kern="0" dirty="0">
                <a:solidFill>
                  <a:srgbClr val="000000"/>
                </a:solidFill>
                <a:latin typeface="+mn-ea"/>
              </a:rPr>
              <a:t>제목</a:t>
            </a:r>
            <a:r>
              <a:rPr lang="en-US" altLang="ko-KR" sz="1200" b="1" kern="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1200" b="1" kern="0" dirty="0">
                <a:solidFill>
                  <a:srgbClr val="000000"/>
                </a:solidFill>
                <a:latin typeface="+mn-ea"/>
              </a:rPr>
              <a:t>분실물 문의</a:t>
            </a:r>
            <a:endParaRPr lang="en-US" altLang="ko-KR" sz="1200" b="1" kern="0" dirty="0">
              <a:solidFill>
                <a:srgbClr val="000000"/>
              </a:solidFill>
              <a:latin typeface="+mn-ea"/>
            </a:endParaRPr>
          </a:p>
          <a:p>
            <a:pPr fontAlgn="base" latinLnBrk="0">
              <a:lnSpc>
                <a:spcPct val="160000"/>
              </a:lnSpc>
            </a:pP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Q :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제가 오전에 기차에다가 가방을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(                   ).</a:t>
            </a:r>
          </a:p>
          <a:p>
            <a:pPr fontAlgn="base" latinLnBrk="0">
              <a:lnSpc>
                <a:spcPct val="160000"/>
              </a:lnSpc>
            </a:pP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    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혹시 찾을 수 있습니까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?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확인 좀 부탁드립니다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.</a:t>
            </a:r>
          </a:p>
          <a:p>
            <a:pPr fontAlgn="base" latinLnBrk="0">
              <a:lnSpc>
                <a:spcPct val="160000"/>
              </a:lnSpc>
            </a:pPr>
            <a:endParaRPr lang="en-US" altLang="ko-KR" sz="1200" kern="0" dirty="0">
              <a:solidFill>
                <a:srgbClr val="000000"/>
              </a:solidFill>
              <a:latin typeface="+mn-ea"/>
            </a:endParaRPr>
          </a:p>
          <a:p>
            <a:pPr fontAlgn="base" latinLnBrk="0">
              <a:lnSpc>
                <a:spcPct val="160000"/>
              </a:lnSpc>
            </a:pP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A :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고객님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분실물을 확인해 보니 가방이 두 개 있습니다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.</a:t>
            </a:r>
          </a:p>
          <a:p>
            <a:pPr fontAlgn="base" latinLnBrk="0">
              <a:lnSpc>
                <a:spcPct val="160000"/>
              </a:lnSpc>
            </a:pP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     </a:t>
            </a:r>
            <a:r>
              <a:rPr lang="ko-KR" altLang="en-US" sz="1200" kern="0" dirty="0" err="1">
                <a:solidFill>
                  <a:srgbClr val="000000"/>
                </a:solidFill>
                <a:latin typeface="+mn-ea"/>
              </a:rPr>
              <a:t>까만색과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 회색 가방이 있는데 오셔서 확인해 주시기 바랍니다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.</a:t>
            </a:r>
          </a:p>
          <a:p>
            <a:pPr fontAlgn="base" latinLnBrk="0">
              <a:lnSpc>
                <a:spcPct val="160000"/>
              </a:lnSpc>
            </a:pP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    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그리고 저희 센터는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5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시에 문을 닫습니다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.</a:t>
            </a:r>
          </a:p>
          <a:p>
            <a:pPr fontAlgn="base" latinLnBrk="0">
              <a:lnSpc>
                <a:spcPct val="160000"/>
              </a:lnSpc>
            </a:pP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    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그러니까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(                     ).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감사합니다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D3A5BF-65F3-4263-995E-D78015A7FB90}"/>
              </a:ext>
            </a:extLst>
          </p:cNvPr>
          <p:cNvSpPr txBox="1"/>
          <p:nvPr/>
        </p:nvSpPr>
        <p:spPr>
          <a:xfrm>
            <a:off x="87802" y="4997942"/>
            <a:ext cx="3424843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N</a:t>
            </a:r>
            <a:r>
              <a:rPr lang="ko-KR" altLang="en-US" sz="1200" dirty="0"/>
              <a:t>을</a:t>
            </a:r>
            <a:r>
              <a:rPr lang="en-US" altLang="ko-KR" sz="1200" dirty="0"/>
              <a:t>/</a:t>
            </a:r>
            <a:r>
              <a:rPr lang="ko-KR" altLang="en-US" sz="1200" dirty="0"/>
              <a:t>를 분실하다</a:t>
            </a:r>
            <a:r>
              <a:rPr lang="en-US" altLang="ko-KR" sz="1200" dirty="0"/>
              <a:t> = </a:t>
            </a:r>
            <a:r>
              <a:rPr lang="ko-KR" altLang="en-US" sz="1200" dirty="0"/>
              <a:t>잃어버리다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CCA70B-1B3D-4680-AB43-F70ECB937AD1}"/>
              </a:ext>
            </a:extLst>
          </p:cNvPr>
          <p:cNvSpPr txBox="1"/>
          <p:nvPr/>
        </p:nvSpPr>
        <p:spPr>
          <a:xfrm>
            <a:off x="87801" y="5370911"/>
            <a:ext cx="3424843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 분실물 </a:t>
            </a:r>
            <a:r>
              <a:rPr lang="en-US" altLang="ko-KR" sz="1200" dirty="0"/>
              <a:t>: </a:t>
            </a:r>
            <a:r>
              <a:rPr lang="ko-KR" altLang="en-US" sz="1200" dirty="0"/>
              <a:t>잃어버린 물건</a:t>
            </a:r>
          </a:p>
        </p:txBody>
      </p:sp>
    </p:spTree>
    <p:extLst>
      <p:ext uri="{BB962C8B-B14F-4D97-AF65-F5344CB8AC3E}">
        <p14:creationId xmlns:p14="http://schemas.microsoft.com/office/powerpoint/2010/main" val="3503084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5881" y="3675894"/>
            <a:ext cx="2722709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㉠ 실망도 컸습니다</a:t>
            </a:r>
            <a:endParaRPr lang="ko-KR" altLang="en-US" sz="12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8870" y="4227553"/>
            <a:ext cx="2722709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㉡ 주차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(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하기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)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가 힘들었습니다</a:t>
            </a:r>
            <a:endParaRPr lang="ko-KR" altLang="en-US" sz="12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0" name="_x238191552">
            <a:extLst>
              <a:ext uri="{FF2B5EF4-FFF2-40B4-BE49-F238E27FC236}">
                <a16:creationId xmlns:a16="http://schemas.microsoft.com/office/drawing/2014/main" id="{1AE6F07B-70E6-47FE-BA9A-84CC679AC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02" y="97649"/>
            <a:ext cx="3441468" cy="2782076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lnSpc>
                <a:spcPct val="160000"/>
              </a:lnSpc>
            </a:pPr>
            <a:r>
              <a:rPr lang="ko-KR" altLang="en-US" sz="1200" b="1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축제에 다녀 와서</a:t>
            </a:r>
            <a:endParaRPr lang="en-US" altLang="ko-KR" sz="1200" b="1" kern="0" dirty="0">
              <a:solidFill>
                <a:srgbClr val="000000"/>
              </a:solidFill>
              <a:latin typeface="+mn-ea"/>
              <a:cs typeface="함초롬바탕" panose="02030604000101010101" pitchFamily="18" charset="-127"/>
            </a:endParaRPr>
          </a:p>
          <a:p>
            <a:pPr algn="ctr" fontAlgn="base" latinLnBrk="0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지난 주말에 지역 축제에 다녀왔습니다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.</a:t>
            </a:r>
          </a:p>
          <a:p>
            <a:pPr algn="ctr" fontAlgn="base" latinLnBrk="0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그런데 기대가 컸던 만큼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(                   ).</a:t>
            </a:r>
          </a:p>
          <a:p>
            <a:pPr algn="ctr" fontAlgn="base" latinLnBrk="0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특히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쓰레기가 너무 많아서 실망했습니다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.</a:t>
            </a:r>
          </a:p>
          <a:p>
            <a:pPr algn="ctr" fontAlgn="base" latinLnBrk="0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그리고 주차장이 너무 좁아서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(                  ).</a:t>
            </a:r>
          </a:p>
          <a:p>
            <a:pPr algn="ctr" fontAlgn="base" latinLnBrk="0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많은 사람들이 주차가 힘든 곳은 가고 싶어하지 않습니다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.</a:t>
            </a:r>
          </a:p>
          <a:p>
            <a:pPr algn="ctr" fontAlgn="base" latinLnBrk="0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앞으로 쓰레기와 주차 문제에 더 신경 써야 할 것 같습니다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+mn-ea"/>
              <a:cs typeface="함초롬바탕" panose="02030604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A46DAD-0D87-4FF1-8FDE-11D1BD046A33}"/>
              </a:ext>
            </a:extLst>
          </p:cNvPr>
          <p:cNvSpPr txBox="1"/>
          <p:nvPr/>
        </p:nvSpPr>
        <p:spPr>
          <a:xfrm>
            <a:off x="1388225" y="2947422"/>
            <a:ext cx="2119745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A-(</a:t>
            </a:r>
            <a:r>
              <a:rPr lang="ko-KR" altLang="en-US" sz="1200" dirty="0"/>
              <a:t>으</a:t>
            </a:r>
            <a:r>
              <a:rPr lang="en-US" altLang="ko-KR" sz="1200" dirty="0"/>
              <a:t>)</a:t>
            </a:r>
            <a:r>
              <a:rPr lang="ko-KR" altLang="en-US" sz="1200" dirty="0"/>
              <a:t>ㄴ</a:t>
            </a:r>
            <a:r>
              <a:rPr lang="en-US" altLang="ko-KR" sz="1200" dirty="0"/>
              <a:t>/V-</a:t>
            </a:r>
            <a:r>
              <a:rPr lang="ko-KR" altLang="en-US" sz="1200" dirty="0"/>
              <a:t>는 만큼 </a:t>
            </a:r>
            <a:r>
              <a:rPr lang="en-US" altLang="ko-KR" sz="1200" dirty="0"/>
              <a:t>+ N</a:t>
            </a:r>
            <a:r>
              <a:rPr lang="ko-KR" altLang="en-US" sz="1200" dirty="0"/>
              <a:t>도 </a:t>
            </a:r>
            <a:r>
              <a:rPr lang="en-US" altLang="ko-KR" sz="1200" dirty="0"/>
              <a:t>A/V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183045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4655" y="4056192"/>
            <a:ext cx="2971140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㉠ 오래 쓸 수 있는지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사용할 수 있는지</a:t>
            </a:r>
            <a:endParaRPr lang="ko-KR" altLang="en-US" sz="12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4655" y="4591666"/>
            <a:ext cx="2971140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㉡ 가벼워야 합니다</a:t>
            </a:r>
            <a:endParaRPr lang="ko-KR" altLang="en-US" sz="12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0" name="_x238191552">
            <a:extLst>
              <a:ext uri="{FF2B5EF4-FFF2-40B4-BE49-F238E27FC236}">
                <a16:creationId xmlns:a16="http://schemas.microsoft.com/office/drawing/2014/main" id="{1AE6F07B-70E6-47FE-BA9A-84CC679AC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038" y="157728"/>
            <a:ext cx="3355369" cy="3070418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lnSpc>
                <a:spcPct val="160000"/>
              </a:lnSpc>
            </a:pPr>
            <a:r>
              <a:rPr lang="ko-KR" altLang="en-US" sz="1200" b="1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노트북 구입할 때 이것만은 꼭 확인하세요</a:t>
            </a:r>
            <a:r>
              <a:rPr lang="en-US" altLang="ko-KR" sz="1200" b="1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!</a:t>
            </a:r>
          </a:p>
          <a:p>
            <a:pPr algn="ctr" fontAlgn="base" latinLnBrk="0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노트북을 구입하기 전에 확인해 봐야 할 것이 있습니다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.</a:t>
            </a:r>
          </a:p>
          <a:p>
            <a:pPr algn="ctr" fontAlgn="base" latinLnBrk="0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먼저 배터리를 얼마나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(                    )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확인해야 합니다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.</a:t>
            </a:r>
          </a:p>
          <a:p>
            <a:pPr algn="ctr" fontAlgn="base" latinLnBrk="0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주로 밖에서 쓰기 때문에 배터리 사용 가능 시간이 길어야 합니다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.</a:t>
            </a:r>
          </a:p>
          <a:p>
            <a:pPr algn="ctr" fontAlgn="base" latinLnBrk="0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그리고 무게가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(                      ).</a:t>
            </a:r>
          </a:p>
          <a:p>
            <a:pPr algn="ctr" fontAlgn="base" latinLnBrk="0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그래야 언제 어디서나 공책처럼 가볍게 들고 다닐 수 있습니다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  <a:cs typeface="함초롬바탕" panose="02030604000101010101" pitchFamily="18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+mn-ea"/>
              <a:cs typeface="함초롬바탕" panose="02030604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AA09B9-785B-4889-AA94-1D9AE81E7FCC}"/>
              </a:ext>
            </a:extLst>
          </p:cNvPr>
          <p:cNvSpPr txBox="1"/>
          <p:nvPr/>
        </p:nvSpPr>
        <p:spPr>
          <a:xfrm>
            <a:off x="1413164" y="3395224"/>
            <a:ext cx="2053243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그래야 </a:t>
            </a:r>
            <a:r>
              <a:rPr lang="en-US" altLang="ko-KR" sz="1200" dirty="0"/>
              <a:t>+ -(</a:t>
            </a:r>
            <a:r>
              <a:rPr lang="ko-KR" altLang="en-US" sz="1200" dirty="0"/>
              <a:t>으</a:t>
            </a:r>
            <a:r>
              <a:rPr lang="en-US" altLang="ko-KR" sz="1200" dirty="0"/>
              <a:t>)</a:t>
            </a:r>
            <a:r>
              <a:rPr lang="ko-KR" altLang="en-US" sz="1200" dirty="0"/>
              <a:t>ㄹ 수 있다</a:t>
            </a:r>
          </a:p>
        </p:txBody>
      </p:sp>
    </p:spTree>
    <p:extLst>
      <p:ext uri="{BB962C8B-B14F-4D97-AF65-F5344CB8AC3E}">
        <p14:creationId xmlns:p14="http://schemas.microsoft.com/office/powerpoint/2010/main" val="1002039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7932" y="3642641"/>
            <a:ext cx="2664585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㉠ 송별회를 하려고 합니다</a:t>
            </a:r>
            <a:endParaRPr lang="ko-KR" altLang="en-US" sz="12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7932" y="4224473"/>
            <a:ext cx="2664585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㉡ 말씀해 주십시오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알려 주십시오</a:t>
            </a:r>
            <a:endParaRPr lang="ko-KR" altLang="en-US" sz="12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0" name="_x238191552">
            <a:extLst>
              <a:ext uri="{FF2B5EF4-FFF2-40B4-BE49-F238E27FC236}">
                <a16:creationId xmlns:a16="http://schemas.microsoft.com/office/drawing/2014/main" id="{1AE6F07B-70E6-47FE-BA9A-84CC679AC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42" y="132740"/>
            <a:ext cx="3382078" cy="3113504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fontAlgn="base" latinLnBrk="0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안녕하세요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? </a:t>
            </a:r>
          </a:p>
          <a:p>
            <a:pPr fontAlgn="base" latinLnBrk="0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우리 반의 왕명 씨가 갑자기 귀국을 하게 됐습니다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.</a:t>
            </a:r>
          </a:p>
          <a:p>
            <a:pPr algn="just" fontAlgn="base" latinLnBrk="0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그래서 떠나기 전에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(                          ). </a:t>
            </a:r>
          </a:p>
          <a:p>
            <a:pPr algn="just" fontAlgn="base" latinLnBrk="0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바쁜 일이 있더라도 모두 송별회에 오셨으면 합니다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.</a:t>
            </a:r>
          </a:p>
          <a:p>
            <a:pPr algn="just" fontAlgn="base" latinLnBrk="0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혹시 못 오시는 분이 계시면 미리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(                        ). </a:t>
            </a:r>
          </a:p>
          <a:p>
            <a:pPr algn="just" fontAlgn="base" latinLnBrk="0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식당 예약 때문에 참석 인원을 확인해야 합니다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.</a:t>
            </a:r>
          </a:p>
          <a:p>
            <a:pPr algn="just" fontAlgn="base" latinLnBrk="0">
              <a:lnSpc>
                <a:spcPct val="160000"/>
              </a:lnSpc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그럼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그때 뵙겠습니다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99919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</a:endParaRPr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125054" y="120666"/>
            <a:ext cx="3349665" cy="2759060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fontAlgn="base" latinLnBrk="0">
              <a:lnSpc>
                <a:spcPct val="160000"/>
              </a:lnSpc>
            </a:pPr>
            <a:r>
              <a:rPr lang="ko-KR" altLang="en-US" sz="1100" kern="0" dirty="0" err="1">
                <a:solidFill>
                  <a:srgbClr val="000000"/>
                </a:solidFill>
                <a:latin typeface="+mn-ea"/>
              </a:rPr>
              <a:t>가이드님께</a:t>
            </a:r>
            <a:endParaRPr lang="en-US" altLang="ko-KR" sz="1100" kern="0" dirty="0">
              <a:solidFill>
                <a:srgbClr val="000000"/>
              </a:solidFill>
              <a:latin typeface="+mn-ea"/>
            </a:endParaRPr>
          </a:p>
          <a:p>
            <a:pPr fontAlgn="base" latinLnBrk="0">
              <a:lnSpc>
                <a:spcPct val="160000"/>
              </a:lnSpc>
            </a:pPr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여행하는 동안 친절하게 안내해 주셔서 감사합니다</a:t>
            </a:r>
            <a:r>
              <a:rPr lang="en-US" altLang="ko-KR" sz="1100" kern="0" dirty="0">
                <a:solidFill>
                  <a:srgbClr val="000000"/>
                </a:solidFill>
                <a:latin typeface="+mn-ea"/>
              </a:rPr>
              <a:t>.</a:t>
            </a:r>
          </a:p>
          <a:p>
            <a:pPr fontAlgn="base" latinLnBrk="0">
              <a:lnSpc>
                <a:spcPct val="160000"/>
              </a:lnSpc>
            </a:pPr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그 전에는 역사에 관심이 전혀 없었는데 설명을 너무 재미있게 해 주셔서 역사에</a:t>
            </a:r>
            <a:endParaRPr lang="en-US" altLang="ko-KR" sz="1100" kern="0" dirty="0">
              <a:solidFill>
                <a:srgbClr val="000000"/>
              </a:solidFill>
              <a:latin typeface="+mn-ea"/>
            </a:endParaRPr>
          </a:p>
          <a:p>
            <a:pPr fontAlgn="base" latinLnBrk="0">
              <a:lnSpc>
                <a:spcPct val="160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+mn-ea"/>
              </a:rPr>
              <a:t>(                         ).</a:t>
            </a:r>
          </a:p>
          <a:p>
            <a:pPr fontAlgn="base" latinLnBrk="0">
              <a:lnSpc>
                <a:spcPct val="160000"/>
              </a:lnSpc>
            </a:pPr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그리고 전통 문화에 대해서도 자세히 알려 주셔서 좋았습니다</a:t>
            </a:r>
            <a:r>
              <a:rPr lang="en-US" altLang="ko-KR" sz="1100" kern="0" dirty="0">
                <a:solidFill>
                  <a:srgbClr val="000000"/>
                </a:solidFill>
                <a:latin typeface="+mn-ea"/>
              </a:rPr>
              <a:t>.</a:t>
            </a:r>
          </a:p>
          <a:p>
            <a:pPr fontAlgn="base" latinLnBrk="0">
              <a:lnSpc>
                <a:spcPct val="160000"/>
              </a:lnSpc>
            </a:pPr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설명을 듣지 않았다면 이런 문화가 있는 줄도 </a:t>
            </a:r>
            <a:r>
              <a:rPr lang="en-US" altLang="ko-KR" sz="1100" kern="0" dirty="0">
                <a:solidFill>
                  <a:srgbClr val="000000"/>
                </a:solidFill>
                <a:latin typeface="+mn-ea"/>
              </a:rPr>
              <a:t>(                        ).</a:t>
            </a:r>
          </a:p>
          <a:p>
            <a:pPr fontAlgn="base" latinLnBrk="0">
              <a:lnSpc>
                <a:spcPct val="160000"/>
              </a:lnSpc>
            </a:pPr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여행을 하면서 많이 배웠습니다</a:t>
            </a:r>
            <a:r>
              <a:rPr lang="en-US" altLang="ko-KR" sz="1100" kern="0" dirty="0">
                <a:solidFill>
                  <a:srgbClr val="000000"/>
                </a:solidFill>
                <a:latin typeface="+mn-ea"/>
              </a:rPr>
              <a:t>. </a:t>
            </a:r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감사합니다</a:t>
            </a:r>
            <a:r>
              <a:rPr lang="en-US" altLang="ko-KR" sz="1100" kern="0" dirty="0">
                <a:solidFill>
                  <a:srgbClr val="000000"/>
                </a:solidFill>
                <a:latin typeface="+mn-ea"/>
              </a:rPr>
              <a:t>.</a:t>
            </a:r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052" y="4232538"/>
            <a:ext cx="3349665" cy="26161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㉠ 관심을 갖게 되었습니다</a:t>
            </a:r>
            <a:r>
              <a:rPr lang="en-US" altLang="ko-KR" sz="1100" kern="0" dirty="0">
                <a:solidFill>
                  <a:srgbClr val="000000"/>
                </a:solidFill>
                <a:latin typeface="+mn-ea"/>
              </a:rPr>
              <a:t>/</a:t>
            </a:r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관심이 생겼습니다</a:t>
            </a:r>
            <a:endParaRPr lang="ko-KR" altLang="en-US" sz="11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5052" y="4716735"/>
            <a:ext cx="3349665" cy="26161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㉡ 몰랐을 것입니다</a:t>
            </a:r>
            <a:r>
              <a:rPr lang="en-US" altLang="ko-KR" sz="1100" kern="0" dirty="0">
                <a:solidFill>
                  <a:srgbClr val="000000"/>
                </a:solidFill>
                <a:latin typeface="+mn-ea"/>
              </a:rPr>
              <a:t>/</a:t>
            </a:r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몰랐을 것 같습니다</a:t>
            </a:r>
            <a:endParaRPr lang="ko-KR" altLang="en-US" sz="11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082C1C-7A60-48F0-92D1-EC7BFE1BD943}"/>
              </a:ext>
            </a:extLst>
          </p:cNvPr>
          <p:cNvSpPr txBox="1"/>
          <p:nvPr/>
        </p:nvSpPr>
        <p:spPr>
          <a:xfrm>
            <a:off x="2310044" y="2978776"/>
            <a:ext cx="1164673" cy="7848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관심이 있다</a:t>
            </a:r>
            <a:r>
              <a:rPr lang="en-US" altLang="ko-KR" sz="900" dirty="0"/>
              <a:t>/</a:t>
            </a:r>
            <a:r>
              <a:rPr lang="ko-KR" altLang="en-US" sz="900" dirty="0"/>
              <a:t>없다</a:t>
            </a:r>
            <a:endParaRPr lang="en-US" altLang="ko-KR" sz="900" dirty="0"/>
          </a:p>
          <a:p>
            <a:r>
              <a:rPr lang="ko-KR" altLang="en-US" sz="900" dirty="0"/>
              <a:t>              생기다</a:t>
            </a:r>
            <a:endParaRPr lang="en-US" altLang="ko-KR" sz="900" dirty="0"/>
          </a:p>
          <a:p>
            <a:r>
              <a:rPr lang="en-US" altLang="ko-KR" sz="900" dirty="0"/>
              <a:t>              </a:t>
            </a:r>
            <a:r>
              <a:rPr lang="ko-KR" altLang="en-US" sz="900" dirty="0"/>
              <a:t>많다</a:t>
            </a:r>
            <a:r>
              <a:rPr lang="en-US" altLang="ko-KR" sz="900" dirty="0"/>
              <a:t>/</a:t>
            </a:r>
            <a:r>
              <a:rPr lang="ko-KR" altLang="en-US" sz="900" dirty="0"/>
              <a:t>적다</a:t>
            </a:r>
            <a:endParaRPr lang="en-US" altLang="ko-KR" sz="900" dirty="0"/>
          </a:p>
          <a:p>
            <a:r>
              <a:rPr lang="en-US" altLang="ko-KR" sz="900" dirty="0"/>
              <a:t>     </a:t>
            </a:r>
            <a:r>
              <a:rPr lang="ko-KR" altLang="en-US" sz="900" dirty="0"/>
              <a:t>관심을 가지다</a:t>
            </a:r>
            <a:endParaRPr lang="en-US" altLang="ko-KR" sz="900" dirty="0"/>
          </a:p>
          <a:p>
            <a:r>
              <a:rPr lang="en-US" altLang="ko-KR" sz="900" dirty="0"/>
              <a:t>               </a:t>
            </a:r>
            <a:r>
              <a:rPr lang="ko-KR" altLang="en-US" sz="900" dirty="0"/>
              <a:t>보이다</a:t>
            </a:r>
            <a:endParaRPr lang="en-US" altLang="ko-KR" sz="9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529C12-E8B6-4556-9737-B1B42B72FCB7}"/>
              </a:ext>
            </a:extLst>
          </p:cNvPr>
          <p:cNvSpPr txBox="1"/>
          <p:nvPr/>
        </p:nvSpPr>
        <p:spPr>
          <a:xfrm>
            <a:off x="115154" y="2978776"/>
            <a:ext cx="210275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A-(</a:t>
            </a:r>
            <a:r>
              <a:rPr lang="ko-KR" altLang="en-US" sz="900" dirty="0"/>
              <a:t>으</a:t>
            </a:r>
            <a:r>
              <a:rPr lang="en-US" altLang="ko-KR" sz="900" dirty="0"/>
              <a:t>)</a:t>
            </a:r>
            <a:r>
              <a:rPr lang="ko-KR" altLang="en-US" sz="900" dirty="0" err="1"/>
              <a:t>ㄴ줄</a:t>
            </a:r>
            <a:r>
              <a:rPr lang="en-US" altLang="ko-KR" sz="900" dirty="0"/>
              <a:t>/V-</a:t>
            </a:r>
            <a:r>
              <a:rPr lang="ko-KR" altLang="en-US" sz="900" dirty="0" err="1"/>
              <a:t>는줄</a:t>
            </a:r>
            <a:r>
              <a:rPr lang="ko-KR" altLang="en-US" sz="900" dirty="0"/>
              <a:t> 알다</a:t>
            </a:r>
            <a:r>
              <a:rPr lang="en-US" altLang="ko-KR" sz="900" dirty="0"/>
              <a:t>/</a:t>
            </a:r>
            <a:r>
              <a:rPr lang="ko-KR" altLang="en-US" sz="900" dirty="0"/>
              <a:t>모르다 </a:t>
            </a:r>
            <a:endParaRPr lang="en-US" altLang="ko-KR" sz="9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427CFE-B5D6-40DE-9774-F448A8092222}"/>
              </a:ext>
            </a:extLst>
          </p:cNvPr>
          <p:cNvSpPr txBox="1"/>
          <p:nvPr/>
        </p:nvSpPr>
        <p:spPr>
          <a:xfrm>
            <a:off x="115154" y="3580479"/>
            <a:ext cx="210275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A/V-</a:t>
            </a:r>
            <a:r>
              <a:rPr lang="ko-KR" altLang="en-US" sz="900" dirty="0"/>
              <a:t>다면 </a:t>
            </a:r>
            <a:r>
              <a:rPr lang="en-US" altLang="ko-KR" sz="900" dirty="0"/>
              <a:t>+ -(</a:t>
            </a:r>
            <a:r>
              <a:rPr lang="ko-KR" altLang="en-US" sz="900" dirty="0"/>
              <a:t>으</a:t>
            </a:r>
            <a:r>
              <a:rPr lang="en-US" altLang="ko-KR" sz="900" dirty="0"/>
              <a:t>)</a:t>
            </a:r>
            <a:r>
              <a:rPr lang="ko-KR" altLang="en-US" sz="900" dirty="0"/>
              <a:t>ㄹ 것이다</a:t>
            </a:r>
            <a:endParaRPr lang="en-US" altLang="ko-KR" sz="900" dirty="0"/>
          </a:p>
        </p:txBody>
      </p:sp>
    </p:spTree>
    <p:extLst>
      <p:ext uri="{BB962C8B-B14F-4D97-AF65-F5344CB8AC3E}">
        <p14:creationId xmlns:p14="http://schemas.microsoft.com/office/powerpoint/2010/main" val="181903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10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88341" y="158341"/>
            <a:ext cx="3386379" cy="2831499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algn="ctr"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중고 자전거 급구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!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중고 자전거를 급히 찾고 있습니다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성인 남자용과 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여자용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 각각 한 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대씩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 필요합니다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한 대도 좋지만 두 대를 파실 분이면 더 좋습니다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두 대가 없다면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(                                ).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자전거 사진을 찍어 아래 번호로 보내 주십시오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 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다만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너무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(                             ).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1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년 미만의 상태 좋은 자전거를 파실 분만 연락 주시기 바랍니다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8341" y="3259296"/>
            <a:ext cx="3386378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㉠ 한 대라도 괜찮습니다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좋습니다</a:t>
            </a:r>
            <a:endParaRPr lang="ko-KR" altLang="en-US" sz="12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341" y="3709138"/>
            <a:ext cx="3386378" cy="46166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㉡ 상태가 안 좋은 자전거는 곤란합니다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사지 않겠습니다</a:t>
            </a:r>
            <a:endParaRPr lang="ko-KR" altLang="en-US" sz="1200" kern="0" dirty="0">
              <a:solidFill>
                <a:sysClr val="windowText" lastClr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98670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-1" y="1947512"/>
            <a:ext cx="8022814" cy="1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  <a:spAutoFit/>
          </a:bodyPr>
          <a:lstStyle/>
          <a:p>
            <a:pPr defTabSz="270041">
              <a:defRPr/>
            </a:pPr>
            <a:endParaRPr lang="ko-KR" altLang="en-US" sz="531" kern="0">
              <a:solidFill>
                <a:sysClr val="windowText" lastClr="000000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3" name="_x238191552"/>
          <p:cNvSpPr>
            <a:spLocks noChangeArrowheads="1"/>
          </p:cNvSpPr>
          <p:nvPr/>
        </p:nvSpPr>
        <p:spPr bwMode="auto">
          <a:xfrm>
            <a:off x="124691" y="74816"/>
            <a:ext cx="3333403" cy="3067396"/>
          </a:xfrm>
          <a:prstGeom prst="rect">
            <a:avLst/>
          </a:prstGeom>
          <a:solidFill>
            <a:srgbClr val="FFFFFF"/>
          </a:solidFill>
          <a:ln w="3556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27003" tIns="13502" rIns="27003" bIns="13502" numCol="1" anchor="ctr" anchorCtr="0" compatLnSpc="1">
            <a:prstTxWarp prst="textNoShape">
              <a:avLst/>
            </a:prstTxWarp>
          </a:bodyPr>
          <a:lstStyle/>
          <a:p>
            <a:pPr algn="ctr"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벼룩시장 신청 안내</a:t>
            </a:r>
            <a:endParaRPr lang="en-US" altLang="ko-KR" sz="1200" kern="0" dirty="0">
              <a:solidFill>
                <a:srgbClr val="000000"/>
              </a:solidFill>
              <a:latin typeface="함초롬바탕" panose="02030604000101010101" pitchFamily="18" charset="-127"/>
              <a:ea typeface="맑은 고딕" panose="020B0503020000020004" pitchFamily="50" charset="-127"/>
            </a:endParaRP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혹시 집에 쓰지 않는 물건이 있습니까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?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그러면 주말 벼룩시장으로 오십시오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벼룩시장에서는 누구나 물건을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(                 ).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참여를 원하시는 분은 인터넷으로 신청하시거나 주민센터로 직접 오셔서 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(              ).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신청서에 팔고 싶은 물건과 연락처를 써 주시면 됩니다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</a:t>
            </a:r>
          </a:p>
          <a:p>
            <a:pPr defTabSz="270041" fontAlgn="base">
              <a:lnSpc>
                <a:spcPct val="160000"/>
              </a:lnSpc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신청 기간은 이번 주 월요일부터 </a:t>
            </a:r>
            <a:r>
              <a:rPr lang="ko-KR" altLang="en-US" sz="1200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목요일까지입니다</a:t>
            </a:r>
            <a:r>
              <a:rPr lang="en-US" altLang="ko-KR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.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  <a:ea typeface="맑은 고딕" panose="020B0503020000020004" pitchFamily="50" charset="-127"/>
              </a:rPr>
              <a:t> </a:t>
            </a:r>
            <a:endParaRPr lang="en-US" altLang="ko-KR" sz="1200" kern="0" dirty="0">
              <a:solidFill>
                <a:srgbClr val="000000"/>
              </a:solidFill>
              <a:latin typeface="함초롬바탕" panose="02030604000101010101" pitchFamily="18" charset="-127"/>
              <a:ea typeface="맑은 고딕" panose="020B0503020000020004" pitchFamily="50" charset="-127"/>
            </a:endParaRPr>
          </a:p>
          <a:p>
            <a:pPr defTabSz="270041" fontAlgn="base">
              <a:lnSpc>
                <a:spcPct val="160000"/>
              </a:lnSpc>
              <a:defRPr/>
            </a:pP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4692" y="3596739"/>
            <a:ext cx="3333402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㉠ 팔 수 있습니다</a:t>
            </a:r>
            <a:endParaRPr lang="ko-KR" altLang="en-US" sz="12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4691" y="4120494"/>
            <a:ext cx="3333402" cy="2769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defTabSz="270041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㉡ 신청하실 수 있습니다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신청하시면 됩니다</a:t>
            </a:r>
            <a:endParaRPr lang="ko-KR" altLang="en-US" sz="1200" kern="0" dirty="0">
              <a:solidFill>
                <a:sysClr val="windowText" lastClr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07697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755</TotalTime>
  <Words>4012</Words>
  <Application>Microsoft Macintosh PowerPoint</Application>
  <PresentationFormat>Custom</PresentationFormat>
  <Paragraphs>580</Paragraphs>
  <Slides>65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1" baseType="lpstr">
      <vt:lpstr>맑은 고딕</vt:lpstr>
      <vt:lpstr>함초롬바탕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51번 편지</dc:title>
  <dc:creator>장근영</dc:creator>
  <cp:lastModifiedBy>Abduraimov Usmanjon</cp:lastModifiedBy>
  <cp:revision>35</cp:revision>
  <dcterms:created xsi:type="dcterms:W3CDTF">2016-05-31T11:06:54Z</dcterms:created>
  <dcterms:modified xsi:type="dcterms:W3CDTF">2023-03-13T02:05:11Z</dcterms:modified>
</cp:coreProperties>
</file>